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embeddings/Microsoft_Excel_Sheet2.xlsx" ContentType="application/vnd.openxmlformats-officedocument.spreadsheetml.sheet"/>
  <Override PartName="/ppt/media/image1.png" ContentType="image/png"/>
  <Override PartName="/ppt/media/hdphoto2.wdp" ContentType="image/vnd.ms-photo"/>
  <Override PartName="/ppt/media/image2.png" ContentType="image/png"/>
  <Override PartName="/ppt/media/image13.jpeg" ContentType="image/jpeg"/>
  <Override PartName="/ppt/media/hdphoto1.wdp" ContentType="image/vnd.ms-photo"/>
  <Override PartName="/ppt/media/image3.png" ContentType="image/png"/>
  <Override PartName="/ppt/media/image11.png" ContentType="image/png"/>
  <Override PartName="/ppt/media/image6.jpeg" ContentType="image/jpeg"/>
  <Override PartName="/ppt/media/image4.png" ContentType="image/png"/>
  <Override PartName="/ppt/media/image12.png" ContentType="image/png"/>
  <Override PartName="/ppt/media/image7.jpeg" ContentType="image/jpeg"/>
  <Override PartName="/ppt/media/image14.jpeg" ContentType="image/jpeg"/>
  <Override PartName="/ppt/media/hdphoto3.wdp" ContentType="image/vnd.ms-photo"/>
  <Override PartName="/ppt/media/image8.png" ContentType="image/png"/>
  <Override PartName="/ppt/media/image9.jpeg" ContentType="image/jpeg"/>
  <Override PartName="/ppt/media/image10.jpeg" ContentType="image/jpeg"/>
  <Override PartName="/ppt/media/image5.png" ContentType="image/png"/>
  <Override PartName="/ppt/media/image15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harts/_rels/chart1.xml.rels" ContentType="application/vnd.openxmlformats-package.relationships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1400" strike="noStrike" u="none">
                <a:solidFill>
                  <a:srgbClr val="0b2a5b"/>
                </a:solidFill>
                <a:uFillTx/>
                <a:latin typeface="Calibri"/>
              </a:rPr>
              <a:t>Prediction error on 73 unseen days (lower is better)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 as yesterday (simple guess)</c:v>
                </c:pt>
              </c:strCache>
            </c:strRef>
          </c:tx>
          <c:spPr>
            <a:solidFill>
              <a:srgbClr val="9aa7b3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aa7b3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9aa7b3"/>
              </a:solidFill>
              <a:ln w="0">
                <a:noFill/>
              </a:ln>
            </c:spPr>
          </c:dPt>
          <c:dLbls>
            <c:numFmt formatCode="0.000" sourceLinked="0"/>
            <c:dLbl>
              <c:idx val="0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1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,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Home power use</c:v>
                </c:pt>
                <c:pt idx="1">
                  <c:v>Solar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0.407</c:v>
                </c:pt>
                <c:pt idx="1">
                  <c:v>0.263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 (deep-learning model)</c:v>
                </c:pt>
              </c:strCache>
            </c:strRef>
          </c:tx>
          <c:spPr>
            <a:solidFill>
              <a:srgbClr val="0fa3c7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fa3c7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fa3c7"/>
              </a:solidFill>
              <a:ln w="0">
                <a:noFill/>
              </a:ln>
            </c:spPr>
          </c:dPt>
          <c:dLbls>
            <c:numFmt formatCode="0.000" sourceLinked="0"/>
            <c:dLbl>
              <c:idx val="0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1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,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Home power use</c:v>
                </c:pt>
                <c:pt idx="1">
                  <c:v>Solar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0.339</c:v>
                </c:pt>
                <c:pt idx="1">
                  <c:v>0.162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 (our model)</c:v>
                </c:pt>
              </c:strCache>
            </c:strRef>
          </c:tx>
          <c:spPr>
            <a:solidFill>
              <a:srgbClr val="3dae4f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3dae4f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3dae4f"/>
              </a:solidFill>
              <a:ln w="0">
                <a:noFill/>
              </a:ln>
            </c:spPr>
          </c:dPt>
          <c:dLbls>
            <c:numFmt formatCode="0.000" sourceLinked="0"/>
            <c:dLbl>
              <c:idx val="0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1"/>
              <c:numFmt formatCode="0.00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,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Home power use</c:v>
                </c:pt>
                <c:pt idx="1">
                  <c:v>Solar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0.288</c:v>
                </c:pt>
                <c:pt idx="1">
                  <c:v>0.145</c:v>
                </c:pt>
              </c:numCache>
            </c:numRef>
          </c:val>
        </c:ser>
        <c:gapWidth val="70"/>
        <c:overlap val="-5"/>
        <c:axId val="7463627"/>
        <c:axId val="97892744"/>
      </c:barChart>
      <c:catAx>
        <c:axId val="746362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7892744"/>
        <c:crosses val="autoZero"/>
        <c:auto val="1"/>
        <c:lblAlgn val="ctr"/>
        <c:lblOffset val="100"/>
        <c:noMultiLvlLbl val="0"/>
      </c:catAx>
      <c:valAx>
        <c:axId val="97892744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463627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2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  <c:externalData r:id="rId1"/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48942FA6-8F12-45C8-A326-D1BAF62BF087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52920" rIns="5292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All six modules run end to end on a live stack.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87217A-3E41-4AAA-9453-E090CAC104C5}" type="slidenum"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Objective 5: the system is deployed with Docker Compose (four containers). Extraction accuracy and retrieval quality are measured on a golden set whose correct answers are known exactly, so results are reproducible.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941C5E-7FF4-45F9-9A2D-D1CF0B230430}" type="slidenum"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microsoft.com/office/2007/relationships/hdphoto" Target="../media/hdphoto2.wdp"/><Relationship Id="rId7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"/>
          <p:cNvPicPr/>
          <p:nvPr/>
        </p:nvPicPr>
        <p:blipFill>
          <a:blip r:embed="rId2"/>
          <a:stretch/>
        </p:blipFill>
        <p:spPr>
          <a:xfrm>
            <a:off x="0" y="5337720"/>
            <a:ext cx="12191400" cy="15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6"/>
          <p:cNvSpPr/>
          <p:nvPr/>
        </p:nvSpPr>
        <p:spPr>
          <a:xfrm>
            <a:off x="0" y="0"/>
            <a:ext cx="12191400" cy="364320"/>
          </a:xfrm>
          <a:prstGeom prst="rect">
            <a:avLst/>
          </a:prstGeom>
          <a:gradFill rotWithShape="0"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endParaRPr b="1" i="1" lang="en-US" sz="2000" strike="noStrike" u="none">
              <a:solidFill>
                <a:schemeClr val="lt1">
                  <a:lumMod val="75000"/>
                </a:schemeClr>
              </a:solidFill>
              <a:uFillTx/>
              <a:latin typeface="Calibri"/>
            </a:endParaRPr>
          </a:p>
        </p:txBody>
      </p:sp>
      <p:pic>
        <p:nvPicPr>
          <p:cNvPr id="2" name="Picture 4" descr="LTIMindtree logo in transparent PNG and vectorized SVG formats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545480" y="6562440"/>
            <a:ext cx="1540440" cy="2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itle Placeholder 1"/>
          <p:cNvSpPr/>
          <p:nvPr/>
        </p:nvSpPr>
        <p:spPr>
          <a:xfrm>
            <a:off x="221400" y="88560"/>
            <a:ext cx="817596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endParaRPr b="0" lang="en-US" sz="4400" strike="noStrike" u="none">
              <a:solidFill>
                <a:schemeClr val="dk1"/>
              </a:solidFill>
              <a:uFillTx/>
              <a:latin typeface="Calibri Light"/>
            </a:endParaRPr>
          </a:p>
        </p:txBody>
      </p:sp>
      <p:sp>
        <p:nvSpPr>
          <p:cNvPr id="4" name="Text Placeholder 2"/>
          <p:cNvSpPr/>
          <p:nvPr/>
        </p:nvSpPr>
        <p:spPr>
          <a:xfrm>
            <a:off x="391320" y="640080"/>
            <a:ext cx="112896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uFillTx/>
              <a:latin typeface="Calibri (Body)"/>
            </a:endParaRPr>
          </a:p>
        </p:txBody>
      </p:sp>
      <p:sp>
        <p:nvSpPr>
          <p:cNvPr id="5" name="Text Placeholder 2"/>
          <p:cNvSpPr/>
          <p:nvPr/>
        </p:nvSpPr>
        <p:spPr>
          <a:xfrm>
            <a:off x="158760" y="414000"/>
            <a:ext cx="10024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6" name="Picture 12" descr="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5480" y="6358320"/>
            <a:ext cx="963720" cy="4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microsoft.com/office/2007/relationships/hdphoto" Target="../media/hdphoto3.wdp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9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1.pn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5"/>
          <p:cNvSpPr/>
          <p:nvPr/>
        </p:nvSpPr>
        <p:spPr>
          <a:xfrm>
            <a:off x="-31320" y="29880"/>
            <a:ext cx="12253680" cy="6867720"/>
          </a:xfrm>
          <a:prstGeom prst="rect">
            <a:avLst/>
          </a:prstGeom>
          <a:gradFill rotWithShape="0"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Frutiger LT Pro 45 Light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2289600" y="17640"/>
            <a:ext cx="69094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Frutiger 45 bold"/>
              </a:rPr>
              <a:t>M.Tech/MCA Program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lt1"/>
                </a:solidFill>
                <a:uFillTx/>
                <a:latin typeface="Frutiger 45 bold"/>
              </a:rPr>
              <a:t>Advanced Industry Integrated Programs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7" name="Straight Connector 14"/>
          <p:cNvCxnSpPr/>
          <p:nvPr/>
        </p:nvCxnSpPr>
        <p:spPr>
          <a:xfrm>
            <a:off x="2977200" y="1119960"/>
            <a:ext cx="5866920" cy="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18" name="Rectangle: Rounded Corners 15"/>
          <p:cNvSpPr/>
          <p:nvPr/>
        </p:nvSpPr>
        <p:spPr>
          <a:xfrm>
            <a:off x="4125960" y="1177560"/>
            <a:ext cx="3032280" cy="464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595959"/>
                </a:solidFill>
                <a:uFillTx/>
                <a:latin typeface="Frutiger 45 bold"/>
              </a:rPr>
              <a:t>Jointly offered by University and LTIMindTree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180360" y="1659960"/>
            <a:ext cx="11427480" cy="44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Calibri"/>
              </a:rPr>
              <a:t>Review III  ·  Project 1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</a:rPr>
              <a:t>AI-Powered Tender Intelligence and Bid Decision Support System for Construction Projects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M.Tech Industry Accelerate Program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Team Member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HARISH P — VIT Chennai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T-SERIES — T9994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0" name="Table 2"/>
          <p:cNvGraphicFramePr/>
          <p:nvPr/>
        </p:nvGraphicFramePr>
        <p:xfrm>
          <a:off x="-47160" y="5501160"/>
          <a:ext cx="12238200" cy="326484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6119280"/>
                <a:gridCol w="6119280"/>
              </a:tblGrid>
              <a:tr h="1527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Knowledge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                                                                     </a:t>
                      </a: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Implementation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184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1" name="Picture 7" descr=""/>
          <p:cNvPicPr/>
          <p:nvPr/>
        </p:nvPicPr>
        <p:blipFill>
          <a:blip r:embed="rId1"/>
          <a:stretch/>
        </p:blipFill>
        <p:spPr>
          <a:xfrm>
            <a:off x="9775440" y="5852520"/>
            <a:ext cx="198684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2" descr="LTIMindtree - Technology Consulting and Digital Solutions Company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5852520"/>
            <a:ext cx="3885840" cy="86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25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Faster tender review, with clear reasons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Rounded Rectangle 22"/>
          <p:cNvSpPr/>
          <p:nvPr/>
        </p:nvSpPr>
        <p:spPr>
          <a:xfrm>
            <a:off x="521208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" name="TextBox 23"/>
          <p:cNvSpPr/>
          <p:nvPr/>
        </p:nvSpPr>
        <p:spPr>
          <a:xfrm>
            <a:off x="525780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325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Box 24"/>
          <p:cNvSpPr/>
          <p:nvPr/>
        </p:nvSpPr>
        <p:spPr>
          <a:xfrm>
            <a:off x="5303520" y="258300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tenders loaded and kept up to date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Rounded Rectangle 25"/>
          <p:cNvSpPr/>
          <p:nvPr/>
        </p:nvSpPr>
        <p:spPr>
          <a:xfrm>
            <a:off x="742968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" name="TextBox 26"/>
          <p:cNvSpPr/>
          <p:nvPr/>
        </p:nvSpPr>
        <p:spPr>
          <a:xfrm>
            <a:off x="747540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22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Box 27"/>
          <p:cNvSpPr/>
          <p:nvPr/>
        </p:nvSpPr>
        <p:spPr>
          <a:xfrm>
            <a:off x="7521120" y="258300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key facts read from each tender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Rounded Rectangle 28"/>
          <p:cNvSpPr/>
          <p:nvPr/>
        </p:nvSpPr>
        <p:spPr>
          <a:xfrm>
            <a:off x="964692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" name="TextBox 29"/>
          <p:cNvSpPr/>
          <p:nvPr/>
        </p:nvSpPr>
        <p:spPr>
          <a:xfrm>
            <a:off x="969264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c97f00"/>
                </a:solidFill>
                <a:uFillTx/>
                <a:latin typeface="Calibri"/>
              </a:rPr>
              <a:t>9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Box 30"/>
          <p:cNvSpPr/>
          <p:nvPr/>
        </p:nvSpPr>
        <p:spPr>
          <a:xfrm>
            <a:off x="9738360" y="2583000"/>
            <a:ext cx="18741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simple checks behind each decision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" name="Picture 31" descr="houses.jpg"/>
          <p:cNvPicPr/>
          <p:nvPr/>
        </p:nvPicPr>
        <p:blipFill>
          <a:blip r:embed="rId1"/>
          <a:srcRect l="18692" t="0" r="18692" b="0"/>
          <a:stretch/>
        </p:blipFill>
        <p:spPr>
          <a:xfrm>
            <a:off x="502920" y="1783080"/>
            <a:ext cx="448020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ounded Rectangle 32"/>
          <p:cNvSpPr/>
          <p:nvPr/>
        </p:nvSpPr>
        <p:spPr>
          <a:xfrm>
            <a:off x="5212080" y="352044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8" name="Oval 33"/>
          <p:cNvSpPr/>
          <p:nvPr/>
        </p:nvSpPr>
        <p:spPr>
          <a:xfrm>
            <a:off x="5326560" y="366228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TextBox 34"/>
          <p:cNvSpPr/>
          <p:nvPr/>
        </p:nvSpPr>
        <p:spPr>
          <a:xfrm>
            <a:off x="5806440" y="368964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Reads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35"/>
          <p:cNvSpPr/>
          <p:nvPr/>
        </p:nvSpPr>
        <p:spPr>
          <a:xfrm>
            <a:off x="7635240" y="3705120"/>
            <a:ext cx="39772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pulls out key facts, with page numbers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Rounded Rectangle 36"/>
          <p:cNvSpPr/>
          <p:nvPr/>
        </p:nvSpPr>
        <p:spPr>
          <a:xfrm>
            <a:off x="5212080" y="427932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" name="Oval 37"/>
          <p:cNvSpPr/>
          <p:nvPr/>
        </p:nvSpPr>
        <p:spPr>
          <a:xfrm>
            <a:off x="5326560" y="442116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TextBox 38"/>
          <p:cNvSpPr/>
          <p:nvPr/>
        </p:nvSpPr>
        <p:spPr>
          <a:xfrm>
            <a:off x="5806440" y="444852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Answers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39"/>
          <p:cNvSpPr/>
          <p:nvPr/>
        </p:nvSpPr>
        <p:spPr>
          <a:xfrm>
            <a:off x="7635240" y="4341960"/>
            <a:ext cx="39772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replies to questions and finds similar past tenders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Rounded Rectangle 40"/>
          <p:cNvSpPr/>
          <p:nvPr/>
        </p:nvSpPr>
        <p:spPr>
          <a:xfrm>
            <a:off x="5212080" y="503820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" name="Oval 41"/>
          <p:cNvSpPr/>
          <p:nvPr/>
        </p:nvSpPr>
        <p:spPr>
          <a:xfrm>
            <a:off x="5326560" y="518004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TextBox 42"/>
          <p:cNvSpPr/>
          <p:nvPr/>
        </p:nvSpPr>
        <p:spPr>
          <a:xfrm>
            <a:off x="5806440" y="520740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Decides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Box 43"/>
          <p:cNvSpPr/>
          <p:nvPr/>
        </p:nvSpPr>
        <p:spPr>
          <a:xfrm>
            <a:off x="7635240" y="5222880"/>
            <a:ext cx="39772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recommends Bid or No-Bid, with reasons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Rounded Rectangle 44"/>
          <p:cNvSpPr/>
          <p:nvPr/>
        </p:nvSpPr>
        <p:spPr>
          <a:xfrm>
            <a:off x="594360" y="4663440"/>
            <a:ext cx="4297320" cy="95976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" name="TextBox 45"/>
          <p:cNvSpPr/>
          <p:nvPr/>
        </p:nvSpPr>
        <p:spPr>
          <a:xfrm>
            <a:off x="685800" y="4857120"/>
            <a:ext cx="411444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AI reads the tender. Simple rules decide. Every fact shows its page.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Objectives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2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53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Rounded Rectangle 21"/>
          <p:cNvSpPr/>
          <p:nvPr/>
        </p:nvSpPr>
        <p:spPr>
          <a:xfrm>
            <a:off x="502920" y="137160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" name="Oval 22"/>
          <p:cNvSpPr/>
          <p:nvPr/>
        </p:nvSpPr>
        <p:spPr>
          <a:xfrm>
            <a:off x="640080" y="157284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O1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TextBox 23"/>
          <p:cNvSpPr/>
          <p:nvPr/>
        </p:nvSpPr>
        <p:spPr>
          <a:xfrm>
            <a:off x="1371600" y="156528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Extract scope, eligibility, cost heads and deadlines from NIT and BOQ documents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Rounded Rectangle 24"/>
          <p:cNvSpPr/>
          <p:nvPr/>
        </p:nvSpPr>
        <p:spPr>
          <a:xfrm>
            <a:off x="502920" y="24505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8" name="Oval 25"/>
          <p:cNvSpPr/>
          <p:nvPr/>
        </p:nvSpPr>
        <p:spPr>
          <a:xfrm>
            <a:off x="640080" y="265176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O2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" name="TextBox 26"/>
          <p:cNvSpPr/>
          <p:nvPr/>
        </p:nvSpPr>
        <p:spPr>
          <a:xfrm>
            <a:off x="1371600" y="264420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Answer free-text questions and 50 predefined FAQs, citing the source clause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Rounded Rectangle 27"/>
          <p:cNvSpPr/>
          <p:nvPr/>
        </p:nvSpPr>
        <p:spPr>
          <a:xfrm>
            <a:off x="502920" y="352944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Oval 28"/>
          <p:cNvSpPr/>
          <p:nvPr/>
        </p:nvSpPr>
        <p:spPr>
          <a:xfrm>
            <a:off x="640080" y="373068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O3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TextBox 29"/>
          <p:cNvSpPr/>
          <p:nvPr/>
        </p:nvSpPr>
        <p:spPr>
          <a:xfrm>
            <a:off x="1371600" y="372312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Rank the most similar past tenders and report the differences that matter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Rounded Rectangle 30"/>
          <p:cNvSpPr/>
          <p:nvPr/>
        </p:nvSpPr>
        <p:spPr>
          <a:xfrm>
            <a:off x="502920" y="46087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4" name="Oval 31"/>
          <p:cNvSpPr/>
          <p:nvPr/>
        </p:nvSpPr>
        <p:spPr>
          <a:xfrm>
            <a:off x="640080" y="480960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O4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TextBox 32"/>
          <p:cNvSpPr/>
          <p:nvPr/>
        </p:nvSpPr>
        <p:spPr>
          <a:xfrm>
            <a:off x="1371600" y="480204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Score risk factors and issue a Bid / No-Bid call with supporting evidence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Rounded Rectangle 33"/>
          <p:cNvSpPr/>
          <p:nvPr/>
        </p:nvSpPr>
        <p:spPr>
          <a:xfrm>
            <a:off x="6172200" y="137160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Oval 34"/>
          <p:cNvSpPr/>
          <p:nvPr/>
        </p:nvSpPr>
        <p:spPr>
          <a:xfrm>
            <a:off x="6309360" y="1572840"/>
            <a:ext cx="566640" cy="566640"/>
          </a:xfrm>
          <a:prstGeom prst="ellipse">
            <a:avLst/>
          </a:prstGeom>
          <a:solidFill>
            <a:srgbClr val="0e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O5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TextBox 35"/>
          <p:cNvSpPr/>
          <p:nvPr/>
        </p:nvSpPr>
        <p:spPr>
          <a:xfrm>
            <a:off x="7040880" y="156528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Deploy as a web app; evaluate extraction accuracy and retrieval quality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9" name="Picture 42" descr="image15.png"/>
          <p:cNvPicPr/>
          <p:nvPr/>
        </p:nvPicPr>
        <p:blipFill>
          <a:blip r:embed="rId1"/>
          <a:srcRect l="0" t="11574" r="0" b="11574"/>
          <a:stretch/>
        </p:blipFill>
        <p:spPr>
          <a:xfrm>
            <a:off x="6172200" y="2450520"/>
            <a:ext cx="5486040" cy="31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ounded Rectangle 43"/>
          <p:cNvSpPr/>
          <p:nvPr/>
        </p:nvSpPr>
        <p:spPr>
          <a:xfrm>
            <a:off x="6172200" y="2450520"/>
            <a:ext cx="5486040" cy="3117600"/>
          </a:xfrm>
          <a:prstGeom prst="roundRect">
            <a:avLst>
              <a:gd name="adj" fmla="val 8000"/>
            </a:avLst>
          </a:prstGeom>
          <a:solidFill>
            <a:srgbClr val="0b2a5b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libri"/>
              </a:rPr>
              <a:t>Five objectives, one pipeline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Problem Statement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72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73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A language model must not be the one deciding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Rounded Rectangle 22"/>
          <p:cNvSpPr/>
          <p:nvPr/>
        </p:nvSpPr>
        <p:spPr>
          <a:xfrm>
            <a:off x="502920" y="1783080"/>
            <a:ext cx="2697120" cy="14169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6" name="Oval 23"/>
          <p:cNvSpPr/>
          <p:nvPr/>
        </p:nvSpPr>
        <p:spPr>
          <a:xfrm>
            <a:off x="612720" y="187452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Box 24"/>
          <p:cNvSpPr/>
          <p:nvPr/>
        </p:nvSpPr>
        <p:spPr>
          <a:xfrm>
            <a:off x="1051560" y="1902240"/>
            <a:ext cx="210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Slow review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5"/>
          <p:cNvSpPr/>
          <p:nvPr/>
        </p:nvSpPr>
        <p:spPr>
          <a:xfrm>
            <a:off x="612720" y="2377440"/>
            <a:ext cx="251424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Hundreds of pages, a few experienced estimators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Rounded Rectangle 26"/>
          <p:cNvSpPr/>
          <p:nvPr/>
        </p:nvSpPr>
        <p:spPr>
          <a:xfrm>
            <a:off x="3337560" y="1783080"/>
            <a:ext cx="2697120" cy="14169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0" name="Oval 27"/>
          <p:cNvSpPr/>
          <p:nvPr/>
        </p:nvSpPr>
        <p:spPr>
          <a:xfrm>
            <a:off x="3447360" y="187452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TextBox 28"/>
          <p:cNvSpPr/>
          <p:nvPr/>
        </p:nvSpPr>
        <p:spPr>
          <a:xfrm>
            <a:off x="3886200" y="1902240"/>
            <a:ext cx="210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Easily missed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Box 29"/>
          <p:cNvSpPr/>
          <p:nvPr/>
        </p:nvSpPr>
        <p:spPr>
          <a:xfrm>
            <a:off x="3447360" y="2377440"/>
            <a:ext cx="2514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Eligibility, cost heads, deadlines and penalty clauses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Rounded Rectangle 30"/>
          <p:cNvSpPr/>
          <p:nvPr/>
        </p:nvSpPr>
        <p:spPr>
          <a:xfrm>
            <a:off x="6172200" y="1783080"/>
            <a:ext cx="2697120" cy="14169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4" name="Oval 31"/>
          <p:cNvSpPr/>
          <p:nvPr/>
        </p:nvSpPr>
        <p:spPr>
          <a:xfrm>
            <a:off x="6282000" y="187452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Box 32"/>
          <p:cNvSpPr/>
          <p:nvPr/>
        </p:nvSpPr>
        <p:spPr>
          <a:xfrm>
            <a:off x="6720840" y="1902240"/>
            <a:ext cx="210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Knowledge lost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Box 33"/>
          <p:cNvSpPr/>
          <p:nvPr/>
        </p:nvSpPr>
        <p:spPr>
          <a:xfrm>
            <a:off x="6282000" y="2377440"/>
            <a:ext cx="251424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Past tenders are rarely reused each cycle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Rounded Rectangle 34"/>
          <p:cNvSpPr/>
          <p:nvPr/>
        </p:nvSpPr>
        <p:spPr>
          <a:xfrm>
            <a:off x="9006840" y="1783080"/>
            <a:ext cx="2697120" cy="14169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8" name="Oval 35"/>
          <p:cNvSpPr/>
          <p:nvPr/>
        </p:nvSpPr>
        <p:spPr>
          <a:xfrm>
            <a:off x="9116640" y="187452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TextBox 36"/>
          <p:cNvSpPr/>
          <p:nvPr/>
        </p:nvSpPr>
        <p:spPr>
          <a:xfrm>
            <a:off x="9555480" y="1902240"/>
            <a:ext cx="210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Unauditable advice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Box 37"/>
          <p:cNvSpPr/>
          <p:nvPr/>
        </p:nvSpPr>
        <p:spPr>
          <a:xfrm>
            <a:off x="9116640" y="2377440"/>
            <a:ext cx="2514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A crores-worth Bid / No-Bid call must be explainable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Box 38"/>
          <p:cNvSpPr/>
          <p:nvPr/>
        </p:nvSpPr>
        <p:spPr>
          <a:xfrm>
            <a:off x="502920" y="3337560"/>
            <a:ext cx="54860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e7c99"/>
                </a:solidFill>
                <a:uFillTx/>
                <a:latin typeface="Calibri"/>
              </a:rPr>
              <a:t>Design thesis — the one line to defend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Rounded Rectangle 39"/>
          <p:cNvSpPr/>
          <p:nvPr/>
        </p:nvSpPr>
        <p:spPr>
          <a:xfrm>
            <a:off x="502920" y="3703320"/>
            <a:ext cx="2514240" cy="1096920"/>
          </a:xfrm>
          <a:prstGeom prst="roundRect">
            <a:avLst>
              <a:gd name="adj" fmla="val 8000"/>
            </a:avLst>
          </a:prstGeom>
          <a:solidFill>
            <a:srgbClr val="9a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TextBox 40"/>
          <p:cNvSpPr/>
          <p:nvPr/>
        </p:nvSpPr>
        <p:spPr>
          <a:xfrm>
            <a:off x="576000" y="3776760"/>
            <a:ext cx="2368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PDF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Box 41"/>
          <p:cNvSpPr/>
          <p:nvPr/>
        </p:nvSpPr>
        <p:spPr>
          <a:xfrm>
            <a:off x="576000" y="4133160"/>
            <a:ext cx="2368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Calibri"/>
              </a:rPr>
              <a:t>parse · chunk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Right Arrow 42"/>
          <p:cNvSpPr/>
          <p:nvPr/>
        </p:nvSpPr>
        <p:spPr>
          <a:xfrm>
            <a:off x="3090600" y="406908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6" name="Rounded Rectangle 43"/>
          <p:cNvSpPr/>
          <p:nvPr/>
        </p:nvSpPr>
        <p:spPr>
          <a:xfrm>
            <a:off x="3401640" y="3703320"/>
            <a:ext cx="2514240" cy="109692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7" name="TextBox 44"/>
          <p:cNvSpPr/>
          <p:nvPr/>
        </p:nvSpPr>
        <p:spPr>
          <a:xfrm>
            <a:off x="3474720" y="3776760"/>
            <a:ext cx="2368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LLM EXTRACTS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45"/>
          <p:cNvSpPr/>
          <p:nvPr/>
        </p:nvSpPr>
        <p:spPr>
          <a:xfrm>
            <a:off x="3474720" y="4133160"/>
            <a:ext cx="23680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Calibri"/>
              </a:rPr>
              <a:t>facts → validated schema, with page and region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Right Arrow 46"/>
          <p:cNvSpPr/>
          <p:nvPr/>
        </p:nvSpPr>
        <p:spPr>
          <a:xfrm>
            <a:off x="5989320" y="406908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0" name="Rounded Rectangle 47"/>
          <p:cNvSpPr/>
          <p:nvPr/>
        </p:nvSpPr>
        <p:spPr>
          <a:xfrm>
            <a:off x="6300360" y="3703320"/>
            <a:ext cx="2514240" cy="109692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1" name="TextBox 48"/>
          <p:cNvSpPr/>
          <p:nvPr/>
        </p:nvSpPr>
        <p:spPr>
          <a:xfrm>
            <a:off x="6373440" y="3776760"/>
            <a:ext cx="2368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CODE DECIDES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49"/>
          <p:cNvSpPr/>
          <p:nvPr/>
        </p:nvSpPr>
        <p:spPr>
          <a:xfrm>
            <a:off x="6373440" y="4133160"/>
            <a:ext cx="2368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Calibri"/>
              </a:rPr>
              <a:t>nine deterministic gates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Right Arrow 50"/>
          <p:cNvSpPr/>
          <p:nvPr/>
        </p:nvSpPr>
        <p:spPr>
          <a:xfrm>
            <a:off x="8888040" y="406908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4" name="Rounded Rectangle 51"/>
          <p:cNvSpPr/>
          <p:nvPr/>
        </p:nvSpPr>
        <p:spPr>
          <a:xfrm>
            <a:off x="9198720" y="3703320"/>
            <a:ext cx="2514240" cy="109692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5" name="TextBox 52"/>
          <p:cNvSpPr/>
          <p:nvPr/>
        </p:nvSpPr>
        <p:spPr>
          <a:xfrm>
            <a:off x="9272160" y="3776760"/>
            <a:ext cx="2368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LLM NARRATES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53"/>
          <p:cNvSpPr/>
          <p:nvPr/>
        </p:nvSpPr>
        <p:spPr>
          <a:xfrm>
            <a:off x="9272160" y="4133160"/>
            <a:ext cx="2368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Calibri"/>
              </a:rPr>
              <a:t>explains the scorecard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Rounded Rectangle 54"/>
          <p:cNvSpPr/>
          <p:nvPr/>
        </p:nvSpPr>
        <p:spPr>
          <a:xfrm>
            <a:off x="502920" y="4983480"/>
            <a:ext cx="11201040" cy="63972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8" name="TextBox 55"/>
          <p:cNvSpPr/>
          <p:nvPr/>
        </p:nvSpPr>
        <p:spPr>
          <a:xfrm>
            <a:off x="640080" y="5131440"/>
            <a:ext cx="109267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ffffff"/>
                </a:solidFill>
                <a:uFillTx/>
                <a:latin typeface="Calibri"/>
              </a:rPr>
              <a:t>The model reads and explains. Code decides. The model never casts the vote.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Modules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0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111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From tender PDF to Bid / No-Bid recommendation — six modules, end to end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ounded Rectangle 22"/>
          <p:cNvSpPr/>
          <p:nvPr/>
        </p:nvSpPr>
        <p:spPr>
          <a:xfrm>
            <a:off x="50292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4" name="Oval 23"/>
          <p:cNvSpPr/>
          <p:nvPr/>
        </p:nvSpPr>
        <p:spPr>
          <a:xfrm>
            <a:off x="64008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Box 24"/>
          <p:cNvSpPr/>
          <p:nvPr/>
        </p:nvSpPr>
        <p:spPr>
          <a:xfrm>
            <a:off x="118872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Ingestion and parsing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25"/>
          <p:cNvSpPr/>
          <p:nvPr/>
        </p:nvSpPr>
        <p:spPr>
          <a:xfrm>
            <a:off x="64008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PDF extraction and chunking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26"/>
          <p:cNvSpPr/>
          <p:nvPr/>
        </p:nvSpPr>
        <p:spPr>
          <a:xfrm>
            <a:off x="640080" y="2724840"/>
            <a:ext cx="33372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Per-page PyMuPDF parse keeps every block's position; chunks break at page boundaries so a citation names one page.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Rounded Rectangle 27"/>
          <p:cNvSpPr/>
          <p:nvPr/>
        </p:nvSpPr>
        <p:spPr>
          <a:xfrm>
            <a:off x="429768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9" name="Oval 28"/>
          <p:cNvSpPr/>
          <p:nvPr/>
        </p:nvSpPr>
        <p:spPr>
          <a:xfrm>
            <a:off x="443484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TextBox 29"/>
          <p:cNvSpPr/>
          <p:nvPr/>
        </p:nvSpPr>
        <p:spPr>
          <a:xfrm>
            <a:off x="498348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Extraction and structuring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Box 30"/>
          <p:cNvSpPr/>
          <p:nvPr/>
        </p:nvSpPr>
        <p:spPr>
          <a:xfrm>
            <a:off x="443484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22 facts in 4 groups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31"/>
          <p:cNvSpPr/>
          <p:nvPr/>
        </p:nvSpPr>
        <p:spPr>
          <a:xfrm>
            <a:off x="4434840" y="272484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Constrained JSON-schema decoding; crore/lakh → rupees, months → days, dates → ISO 8601.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Rounded Rectangle 32"/>
          <p:cNvSpPr/>
          <p:nvPr/>
        </p:nvSpPr>
        <p:spPr>
          <a:xfrm>
            <a:off x="809244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4" name="Oval 33"/>
          <p:cNvSpPr/>
          <p:nvPr/>
        </p:nvSpPr>
        <p:spPr>
          <a:xfrm>
            <a:off x="822960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TextBox 34"/>
          <p:cNvSpPr/>
          <p:nvPr/>
        </p:nvSpPr>
        <p:spPr>
          <a:xfrm>
            <a:off x="877824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RAG query and FAQ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35"/>
          <p:cNvSpPr/>
          <p:nvPr/>
        </p:nvSpPr>
        <p:spPr>
          <a:xfrm>
            <a:off x="822960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Hybrid retrieval, grounded answers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6"/>
          <p:cNvSpPr/>
          <p:nvPr/>
        </p:nvSpPr>
        <p:spPr>
          <a:xfrm>
            <a:off x="8229600" y="272484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Dense + lexical search fused by RRF; answers cited to page and region; 50 FAQs in 7 categories.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Rounded Rectangle 37"/>
          <p:cNvSpPr/>
          <p:nvPr/>
        </p:nvSpPr>
        <p:spPr>
          <a:xfrm>
            <a:off x="50292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9" name="Oval 38"/>
          <p:cNvSpPr/>
          <p:nvPr/>
        </p:nvSpPr>
        <p:spPr>
          <a:xfrm>
            <a:off x="64008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TextBox 39"/>
          <p:cNvSpPr/>
          <p:nvPr/>
        </p:nvSpPr>
        <p:spPr>
          <a:xfrm>
            <a:off x="118872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Historical similarity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40"/>
          <p:cNvSpPr/>
          <p:nvPr/>
        </p:nvSpPr>
        <p:spPr>
          <a:xfrm>
            <a:off x="64008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Comparison with past tenders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Box 41"/>
          <p:cNvSpPr/>
          <p:nvPr/>
        </p:nvSpPr>
        <p:spPr>
          <a:xfrm>
            <a:off x="640080" y="484632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Scope similarity re-ranked by authority and work type; MinHash flags reissues; award outcomes attached.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Rounded Rectangle 42"/>
          <p:cNvSpPr/>
          <p:nvPr/>
        </p:nvSpPr>
        <p:spPr>
          <a:xfrm>
            <a:off x="429768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4" name="Oval 43"/>
          <p:cNvSpPr/>
          <p:nvPr/>
        </p:nvSpPr>
        <p:spPr>
          <a:xfrm>
            <a:off x="443484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5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TextBox 44"/>
          <p:cNvSpPr/>
          <p:nvPr/>
        </p:nvSpPr>
        <p:spPr>
          <a:xfrm>
            <a:off x="498348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Risk and Bid / No-Bid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TextBox 45"/>
          <p:cNvSpPr/>
          <p:nvPr/>
        </p:nvSpPr>
        <p:spPr>
          <a:xfrm>
            <a:off x="443484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Explainable recommendation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Box 46"/>
          <p:cNvSpPr/>
          <p:nvPr/>
        </p:nvSpPr>
        <p:spPr>
          <a:xfrm>
            <a:off x="4434840" y="484632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Nine deterministic gates, risk register, counterfactuals. A failed mandatory gate forces No-Bid.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Rounded Rectangle 47"/>
          <p:cNvSpPr/>
          <p:nvPr/>
        </p:nvSpPr>
        <p:spPr>
          <a:xfrm>
            <a:off x="809244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9" name="Oval 48"/>
          <p:cNvSpPr/>
          <p:nvPr/>
        </p:nvSpPr>
        <p:spPr>
          <a:xfrm>
            <a:off x="822960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6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TextBox 49"/>
          <p:cNvSpPr/>
          <p:nvPr/>
        </p:nvSpPr>
        <p:spPr>
          <a:xfrm>
            <a:off x="877824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Application and evaluation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50"/>
          <p:cNvSpPr/>
          <p:nvPr/>
        </p:nvSpPr>
        <p:spPr>
          <a:xfrm>
            <a:off x="822960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0e7c99"/>
                </a:solidFill>
                <a:uFillTx/>
                <a:latin typeface="Calibri"/>
              </a:rPr>
              <a:t>Deployment and metrics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51"/>
          <p:cNvSpPr/>
          <p:nvPr/>
        </p:nvSpPr>
        <p:spPr>
          <a:xfrm>
            <a:off x="8229600" y="484632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React + FastAPI, role-based access, Docker Compose; harness fails the run below threshold.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Methodology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4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145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The implemented pipeline, stage by stage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Rounded Rectangle 22"/>
          <p:cNvSpPr/>
          <p:nvPr/>
        </p:nvSpPr>
        <p:spPr>
          <a:xfrm>
            <a:off x="502920" y="178308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8" name="Oval 23"/>
          <p:cNvSpPr/>
          <p:nvPr/>
        </p:nvSpPr>
        <p:spPr>
          <a:xfrm>
            <a:off x="612720" y="1892880"/>
            <a:ext cx="420120" cy="42012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1124640" y="193104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Acquire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TextBox 25"/>
          <p:cNvSpPr/>
          <p:nvPr/>
        </p:nvSpPr>
        <p:spPr>
          <a:xfrm>
            <a:off x="612720" y="2404800"/>
            <a:ext cx="23954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Scrape the CPPP listing into the tenders table; scheduled refresh. 325 tenders held.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Right Arrow 26"/>
          <p:cNvSpPr/>
          <p:nvPr/>
        </p:nvSpPr>
        <p:spPr>
          <a:xfrm>
            <a:off x="3127320" y="249624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2" name="Rounded Rectangle 27"/>
          <p:cNvSpPr/>
          <p:nvPr/>
        </p:nvSpPr>
        <p:spPr>
          <a:xfrm>
            <a:off x="3364920" y="178308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3" name="Oval 28"/>
          <p:cNvSpPr/>
          <p:nvPr/>
        </p:nvSpPr>
        <p:spPr>
          <a:xfrm>
            <a:off x="3474720" y="1892880"/>
            <a:ext cx="420120" cy="42012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Box 29"/>
          <p:cNvSpPr/>
          <p:nvPr/>
        </p:nvSpPr>
        <p:spPr>
          <a:xfrm>
            <a:off x="3986640" y="193104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Ingest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30"/>
          <p:cNvSpPr/>
          <p:nvPr/>
        </p:nvSpPr>
        <p:spPr>
          <a:xfrm>
            <a:off x="3474720" y="2404800"/>
            <a:ext cx="23954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Parse per page, chunk with page and block geometry, embed and index in pgvector.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Right Arrow 31"/>
          <p:cNvSpPr/>
          <p:nvPr/>
        </p:nvSpPr>
        <p:spPr>
          <a:xfrm>
            <a:off x="5989320" y="249624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7" name="Rounded Rectangle 32"/>
          <p:cNvSpPr/>
          <p:nvPr/>
        </p:nvSpPr>
        <p:spPr>
          <a:xfrm>
            <a:off x="6226920" y="178308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8" name="Oval 33"/>
          <p:cNvSpPr/>
          <p:nvPr/>
        </p:nvSpPr>
        <p:spPr>
          <a:xfrm>
            <a:off x="6336720" y="1892880"/>
            <a:ext cx="420120" cy="42012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TextBox 34"/>
          <p:cNvSpPr/>
          <p:nvPr/>
        </p:nvSpPr>
        <p:spPr>
          <a:xfrm>
            <a:off x="6849000" y="193104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Retrieve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Box 35"/>
          <p:cNvSpPr/>
          <p:nvPr/>
        </p:nvSpPr>
        <p:spPr>
          <a:xfrm>
            <a:off x="6336720" y="2404800"/>
            <a:ext cx="2395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Dense and lexical rankings fused by reciprocal rank.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Right Arrow 36"/>
          <p:cNvSpPr/>
          <p:nvPr/>
        </p:nvSpPr>
        <p:spPr>
          <a:xfrm>
            <a:off x="8851320" y="249624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2" name="Rounded Rectangle 37"/>
          <p:cNvSpPr/>
          <p:nvPr/>
        </p:nvSpPr>
        <p:spPr>
          <a:xfrm>
            <a:off x="9089280" y="178308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3" name="Oval 38"/>
          <p:cNvSpPr/>
          <p:nvPr/>
        </p:nvSpPr>
        <p:spPr>
          <a:xfrm>
            <a:off x="9198720" y="1892880"/>
            <a:ext cx="420120" cy="42012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TextBox 39"/>
          <p:cNvSpPr/>
          <p:nvPr/>
        </p:nvSpPr>
        <p:spPr>
          <a:xfrm>
            <a:off x="9711000" y="193104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Extract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Box 40"/>
          <p:cNvSpPr/>
          <p:nvPr/>
        </p:nvSpPr>
        <p:spPr>
          <a:xfrm>
            <a:off x="9198720" y="2404800"/>
            <a:ext cx="23954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Fill the 22-fact schema under constrained decoding; confirm each quote's true page.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Rounded Rectangle 41"/>
          <p:cNvSpPr/>
          <p:nvPr/>
        </p:nvSpPr>
        <p:spPr>
          <a:xfrm>
            <a:off x="502920" y="370332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7" name="Oval 42"/>
          <p:cNvSpPr/>
          <p:nvPr/>
        </p:nvSpPr>
        <p:spPr>
          <a:xfrm>
            <a:off x="612720" y="3813120"/>
            <a:ext cx="420120" cy="4201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5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TextBox 43"/>
          <p:cNvSpPr/>
          <p:nvPr/>
        </p:nvSpPr>
        <p:spPr>
          <a:xfrm>
            <a:off x="1124640" y="385128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Decide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Box 44"/>
          <p:cNvSpPr/>
          <p:nvPr/>
        </p:nvSpPr>
        <p:spPr>
          <a:xfrm>
            <a:off x="612720" y="4325040"/>
            <a:ext cx="2395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Nine gates run in code; scorecard, risk register and counterfactuals built.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Right Arrow 45"/>
          <p:cNvSpPr/>
          <p:nvPr/>
        </p:nvSpPr>
        <p:spPr>
          <a:xfrm>
            <a:off x="3127320" y="441648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1" name="Rounded Rectangle 46"/>
          <p:cNvSpPr/>
          <p:nvPr/>
        </p:nvSpPr>
        <p:spPr>
          <a:xfrm>
            <a:off x="3364920" y="370332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2" name="Oval 47"/>
          <p:cNvSpPr/>
          <p:nvPr/>
        </p:nvSpPr>
        <p:spPr>
          <a:xfrm>
            <a:off x="3474720" y="3813120"/>
            <a:ext cx="420120" cy="4201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6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TextBox 48"/>
          <p:cNvSpPr/>
          <p:nvPr/>
        </p:nvSpPr>
        <p:spPr>
          <a:xfrm>
            <a:off x="3986640" y="385128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Narrate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49"/>
          <p:cNvSpPr/>
          <p:nvPr/>
        </p:nvSpPr>
        <p:spPr>
          <a:xfrm>
            <a:off x="3474720" y="4325040"/>
            <a:ext cx="2395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The model explains the scorecard it was handed — it never decides.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Right Arrow 50"/>
          <p:cNvSpPr/>
          <p:nvPr/>
        </p:nvSpPr>
        <p:spPr>
          <a:xfrm>
            <a:off x="5989320" y="441648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6" name="Rounded Rectangle 51"/>
          <p:cNvSpPr/>
          <p:nvPr/>
        </p:nvSpPr>
        <p:spPr>
          <a:xfrm>
            <a:off x="6226920" y="370332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7" name="Oval 52"/>
          <p:cNvSpPr/>
          <p:nvPr/>
        </p:nvSpPr>
        <p:spPr>
          <a:xfrm>
            <a:off x="6336720" y="3813120"/>
            <a:ext cx="420120" cy="4201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7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TextBox 53"/>
          <p:cNvSpPr/>
          <p:nvPr/>
        </p:nvSpPr>
        <p:spPr>
          <a:xfrm>
            <a:off x="6849000" y="385128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Correct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54"/>
          <p:cNvSpPr/>
          <p:nvPr/>
        </p:nvSpPr>
        <p:spPr>
          <a:xfrm>
            <a:off x="6336720" y="4325040"/>
            <a:ext cx="2395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Analyst fixes a value in place; decision re-scores; original kept for audit.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Right Arrow 55"/>
          <p:cNvSpPr/>
          <p:nvPr/>
        </p:nvSpPr>
        <p:spPr>
          <a:xfrm>
            <a:off x="8851320" y="4416480"/>
            <a:ext cx="219240" cy="31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1" name="Rounded Rectangle 56"/>
          <p:cNvSpPr/>
          <p:nvPr/>
        </p:nvSpPr>
        <p:spPr>
          <a:xfrm>
            <a:off x="9089280" y="3703320"/>
            <a:ext cx="2605680" cy="1782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2" name="Oval 57"/>
          <p:cNvSpPr/>
          <p:nvPr/>
        </p:nvSpPr>
        <p:spPr>
          <a:xfrm>
            <a:off x="9198720" y="3813120"/>
            <a:ext cx="420120" cy="4201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8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TextBox 58"/>
          <p:cNvSpPr/>
          <p:nvPr/>
        </p:nvSpPr>
        <p:spPr>
          <a:xfrm>
            <a:off x="9711000" y="3851280"/>
            <a:ext cx="19198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Evaluate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Box 59"/>
          <p:cNvSpPr/>
          <p:nvPr/>
        </p:nvSpPr>
        <p:spPr>
          <a:xfrm>
            <a:off x="9198720" y="4325040"/>
            <a:ext cx="23954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Golden-set scoring; run exits non-zero below threshold, so it gates a release.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TextBox 60"/>
          <p:cNvSpPr/>
          <p:nvPr/>
        </p:nvSpPr>
        <p:spPr>
          <a:xfrm>
            <a:off x="502920" y="5623560"/>
            <a:ext cx="1115532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5a6b7b"/>
                </a:solidFill>
                <a:uFillTx/>
                <a:latin typeface="Calibri"/>
              </a:rPr>
              <a:t>Engineering note:  </a:t>
            </a:r>
            <a:r>
              <a:rPr b="0" lang="en-US" sz="1400" strike="noStrike" u="none">
                <a:solidFill>
                  <a:srgbClr val="5a6b7b"/>
                </a:solidFill>
                <a:uFillTx/>
                <a:latin typeface="Calibri"/>
              </a:rPr>
              <a:t>model calls run in Celery workers, never inside an HTTP request — a 500-page tender cannot be parsed while a browser waits.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Approach / Algorithms / Tools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87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188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89" name="Table 21"/>
          <p:cNvGraphicFramePr/>
          <p:nvPr/>
        </p:nvGraphicFramePr>
        <p:xfrm>
          <a:off x="502920" y="1371600"/>
          <a:ext cx="11201040" cy="4717800"/>
        </p:xfrm>
        <a:graphic>
          <a:graphicData uri="http://schemas.openxmlformats.org/drawingml/2006/table">
            <a:tbl>
              <a:tblPr rtl="0" firstCol="0" lastCol="0" firstRow="1" lastRow="0" bandRow="0" bandCol="0"/>
              <a:tblGrid>
                <a:gridCol w="2011680"/>
                <a:gridCol w="5943600"/>
                <a:gridCol w="3246120"/>
              </a:tblGrid>
              <a:tr h="36576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Component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Approach / Algorithm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Tools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Retrieval fusion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Reciprocal Rank Fusion (k = 60): cosine and ts_rank scores are not comparable, so ranks are fused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pgvector, PostgreSQL ts_rank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Vector index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HNSW, 512-dimension, cosine; Matryoshka embeddings cut storage with little retrieval loss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pgvector (HNSW)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Reissue detection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MinHash (128 permutations) flags near-duplicate reissues, reported apart from scope similarity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datasketch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Parsing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Per-page parse keeps block positions, so a quote is pinned to its true page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PyMuPDF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Extraction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Constrained JSON-schema decoding into 22 required, nullable fields; unit and date normalisation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LLM + JSON schema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Decision engine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Nine deterministic gates against a versioned ruleset and company profile; per-gate counterfactuals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Python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6217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Application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REST API, role-based access, queued model calls, containerised deployment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FastAPI, React, Celery, Docker Compose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 and Results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91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192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Rounded Rectangle 21"/>
          <p:cNvSpPr/>
          <p:nvPr/>
        </p:nvSpPr>
        <p:spPr>
          <a:xfrm>
            <a:off x="8595360" y="749880"/>
            <a:ext cx="3108600" cy="383760"/>
          </a:xfrm>
          <a:prstGeom prst="roundRect">
            <a:avLst>
              <a:gd name="adj" fmla="val 50000"/>
            </a:avLst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Delivered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aphicFrame>
        <p:nvGraphicFramePr>
          <p:cNvPr id="194" name="Table 22"/>
          <p:cNvGraphicFramePr/>
          <p:nvPr/>
        </p:nvGraphicFramePr>
        <p:xfrm>
          <a:off x="502920" y="1371600"/>
          <a:ext cx="11201040" cy="4023360"/>
        </p:xfrm>
        <a:graphic>
          <a:graphicData uri="http://schemas.openxmlformats.org/drawingml/2006/table">
            <a:tbl>
              <a:tblPr rtl="0" firstCol="0" lastCol="0" firstRow="1" lastRow="0" bandRow="0" bandCol="0"/>
              <a:tblGrid>
                <a:gridCol w="1965960"/>
                <a:gridCol w="3200400"/>
                <a:gridCol w="6035040"/>
              </a:tblGrid>
              <a:tr h="36576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Goal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What we aimed for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What we got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</a:tr>
              <a:tr h="7315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O1 Read key facts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Pull out scope, eligibility, costs and deadlines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22 facts per tender, each with its page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O2 Answer questions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Answer any question and show the source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50 ready-made questions in 7 topics, with sources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7315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O3 Similar tenders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Find the closest past tenders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Closest tenders ranked; re-issued ones flagged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O4 Bid / No-Bid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Give a decision with evidence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9 checks decide; a missing fact never passes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7315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O5 Web app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Run as a web app and test it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Working app, 325 tenders loaded, automatic tests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How We Tested It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96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197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We tested on tenders where the right answers are known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Rounded Rectangle 22"/>
          <p:cNvSpPr/>
          <p:nvPr/>
        </p:nvSpPr>
        <p:spPr>
          <a:xfrm>
            <a:off x="502920" y="178308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0" name="TextBox 23"/>
          <p:cNvSpPr/>
          <p:nvPr/>
        </p:nvSpPr>
        <p:spPr>
          <a:xfrm>
            <a:off x="594360" y="1862640"/>
            <a:ext cx="25142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Right value?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Box 24"/>
          <p:cNvSpPr/>
          <p:nvPr/>
        </p:nvSpPr>
        <p:spPr>
          <a:xfrm>
            <a:off x="612720" y="2286000"/>
            <a:ext cx="247752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Is the fact we pulled out correct?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Rounded Rectangle 25"/>
          <p:cNvSpPr/>
          <p:nvPr/>
        </p:nvSpPr>
        <p:spPr>
          <a:xfrm>
            <a:off x="3337560" y="178308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3" name="TextBox 26"/>
          <p:cNvSpPr/>
          <p:nvPr/>
        </p:nvSpPr>
        <p:spPr>
          <a:xfrm>
            <a:off x="3429000" y="1862640"/>
            <a:ext cx="25142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Right page?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TextBox 27"/>
          <p:cNvSpPr/>
          <p:nvPr/>
        </p:nvSpPr>
        <p:spPr>
          <a:xfrm>
            <a:off x="3447360" y="2286000"/>
            <a:ext cx="247752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Is the page we cite correct?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Rounded Rectangle 28"/>
          <p:cNvSpPr/>
          <p:nvPr/>
        </p:nvSpPr>
        <p:spPr>
          <a:xfrm>
            <a:off x="6172200" y="178308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6" name="TextBox 29"/>
          <p:cNvSpPr/>
          <p:nvPr/>
        </p:nvSpPr>
        <p:spPr>
          <a:xfrm>
            <a:off x="6263640" y="1862640"/>
            <a:ext cx="25142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Right spot?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Box 30"/>
          <p:cNvSpPr/>
          <p:nvPr/>
        </p:nvSpPr>
        <p:spPr>
          <a:xfrm>
            <a:off x="6282000" y="2286000"/>
            <a:ext cx="247752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Does the cited area show the proof?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Rounded Rectangle 31"/>
          <p:cNvSpPr/>
          <p:nvPr/>
        </p:nvSpPr>
        <p:spPr>
          <a:xfrm>
            <a:off x="9006840" y="178308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9" name="TextBox 32"/>
          <p:cNvSpPr/>
          <p:nvPr/>
        </p:nvSpPr>
        <p:spPr>
          <a:xfrm>
            <a:off x="9098280" y="1862640"/>
            <a:ext cx="25142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Says “not found”?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Box 33"/>
          <p:cNvSpPr/>
          <p:nvPr/>
        </p:nvSpPr>
        <p:spPr>
          <a:xfrm>
            <a:off x="9116640" y="2286000"/>
            <a:ext cx="247752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Does it admit when the tender is silent?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Rounded Rectangle 34"/>
          <p:cNvSpPr/>
          <p:nvPr/>
        </p:nvSpPr>
        <p:spPr>
          <a:xfrm>
            <a:off x="502920" y="3291840"/>
            <a:ext cx="5486040" cy="2285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12" name="TextBox 35"/>
          <p:cNvSpPr/>
          <p:nvPr/>
        </p:nvSpPr>
        <p:spPr>
          <a:xfrm>
            <a:off x="731520" y="3383280"/>
            <a:ext cx="50288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ffffff"/>
                </a:solidFill>
                <a:uFillTx/>
                <a:latin typeface="Calibri"/>
              </a:rPr>
              <a:t>Known answers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Box 36"/>
          <p:cNvSpPr/>
          <p:nvPr/>
        </p:nvSpPr>
        <p:spPr>
          <a:xfrm>
            <a:off x="731520" y="3886200"/>
            <a:ext cx="502884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880" rIns="2988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Calibri"/>
              </a:rPr>
              <a:t>Anyone can repeat the test and get the same score.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Calibri"/>
              </a:rPr>
              <a:t>If scores drop, the release is blocked.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Rounded Rectangle 37"/>
          <p:cNvSpPr/>
          <p:nvPr/>
        </p:nvSpPr>
        <p:spPr>
          <a:xfrm>
            <a:off x="6217920" y="3291840"/>
            <a:ext cx="5486040" cy="2285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15" name="Picture 38" descr="image9.png"/>
          <p:cNvPicPr/>
          <p:nvPr/>
        </p:nvPicPr>
        <p:blipFill>
          <a:blip r:embed="rId1"/>
          <a:stretch/>
        </p:blipFill>
        <p:spPr>
          <a:xfrm>
            <a:off x="6309360" y="3766680"/>
            <a:ext cx="191988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39"/>
          <p:cNvSpPr/>
          <p:nvPr/>
        </p:nvSpPr>
        <p:spPr>
          <a:xfrm>
            <a:off x="8321040" y="3383280"/>
            <a:ext cx="32914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4 bugs found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Box 40"/>
          <p:cNvSpPr/>
          <p:nvPr/>
        </p:nvSpPr>
        <p:spPr>
          <a:xfrm>
            <a:off x="8321040" y="3886200"/>
            <a:ext cx="3291480" cy="9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Demos never showed them.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One made the system hang silently. All are fixed.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Conclusion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19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220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Rounded Rectangle 21"/>
          <p:cNvSpPr/>
          <p:nvPr/>
        </p:nvSpPr>
        <p:spPr>
          <a:xfrm>
            <a:off x="50292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22" name="Picture 22" descr="image6.jpeg"/>
          <p:cNvPicPr/>
          <p:nvPr/>
        </p:nvPicPr>
        <p:blipFill>
          <a:blip r:embed="rId1"/>
          <a:srcRect l="0" t="18452" r="0" b="18452"/>
          <a:stretch/>
        </p:blipFill>
        <p:spPr>
          <a:xfrm>
            <a:off x="59436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23"/>
          <p:cNvSpPr/>
          <p:nvPr/>
        </p:nvSpPr>
        <p:spPr>
          <a:xfrm>
            <a:off x="64008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What we built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640080" y="3154680"/>
            <a:ext cx="3337200" cy="13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A working web app that reads tenders, answers questions, finds similar tenders and advises Bid or No-Bid.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All 6 parts work together.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Rounded Rectangle 25"/>
          <p:cNvSpPr/>
          <p:nvPr/>
        </p:nvSpPr>
        <p:spPr>
          <a:xfrm>
            <a:off x="429768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26" name="Picture 26" descr="image15.png"/>
          <p:cNvPicPr/>
          <p:nvPr/>
        </p:nvPicPr>
        <p:blipFill>
          <a:blip r:embed="rId2"/>
          <a:srcRect l="0" t="23265" r="0" b="23265"/>
          <a:stretch/>
        </p:blipFill>
        <p:spPr>
          <a:xfrm>
            <a:off x="438912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Box 27"/>
          <p:cNvSpPr/>
          <p:nvPr/>
        </p:nvSpPr>
        <p:spPr>
          <a:xfrm>
            <a:off x="443484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Results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TextBox 28"/>
          <p:cNvSpPr/>
          <p:nvPr/>
        </p:nvSpPr>
        <p:spPr>
          <a:xfrm>
            <a:off x="4434840" y="3154680"/>
            <a:ext cx="3337200" cy="18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22 facts per tender, each with its page.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50 ready-made questions; 325 tenders loaded.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9 simple checks decide.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4 hidden bugs found and fixed.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Rounded Rectangle 29"/>
          <p:cNvSpPr/>
          <p:nvPr/>
        </p:nvSpPr>
        <p:spPr>
          <a:xfrm>
            <a:off x="809244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30" name="Picture 30" descr="image8.jpeg"/>
          <p:cNvPicPr/>
          <p:nvPr/>
        </p:nvPicPr>
        <p:blipFill>
          <a:blip r:embed="rId3"/>
          <a:srcRect l="0" t="26557" r="0" b="26557"/>
          <a:stretch/>
        </p:blipFill>
        <p:spPr>
          <a:xfrm>
            <a:off x="818388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Box 31"/>
          <p:cNvSpPr/>
          <p:nvPr/>
        </p:nvSpPr>
        <p:spPr>
          <a:xfrm>
            <a:off x="822960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Key idea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Box 32"/>
          <p:cNvSpPr/>
          <p:nvPr/>
        </p:nvSpPr>
        <p:spPr>
          <a:xfrm>
            <a:off x="8229600" y="3154680"/>
            <a:ext cx="3337200" cy="17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AI reads. Rules decide.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The same tender always gets the same answer, and every answer can be checked.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Next: compare with real estimators’ decisions.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Limitations and Future Work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34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235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Box 21"/>
          <p:cNvSpPr/>
          <p:nvPr/>
        </p:nvSpPr>
        <p:spPr>
          <a:xfrm>
            <a:off x="502920" y="128016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e7c99"/>
                </a:solidFill>
                <a:uFillTx/>
                <a:latin typeface="Calibri"/>
              </a:rPr>
              <a:t>Limitations today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Rounded Rectangle 22"/>
          <p:cNvSpPr/>
          <p:nvPr/>
        </p:nvSpPr>
        <p:spPr>
          <a:xfrm>
            <a:off x="502920" y="1691640"/>
            <a:ext cx="3611520" cy="91404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38" name="TextBox 23"/>
          <p:cNvSpPr/>
          <p:nvPr/>
        </p:nvSpPr>
        <p:spPr>
          <a:xfrm>
            <a:off x="594360" y="1877760"/>
            <a:ext cx="342864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Evaluated on a golden set of known answers, not against an expert panel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Rounded Rectangle 24"/>
          <p:cNvSpPr/>
          <p:nvPr/>
        </p:nvSpPr>
        <p:spPr>
          <a:xfrm>
            <a:off x="4297680" y="1691640"/>
            <a:ext cx="3611520" cy="91404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0" name="TextBox 25"/>
          <p:cNvSpPr/>
          <p:nvPr/>
        </p:nvSpPr>
        <p:spPr>
          <a:xfrm>
            <a:off x="4389120" y="1756080"/>
            <a:ext cx="3428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English-language digital PDFs only; no scanned drawings, CAD or multilingual tenders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Rounded Rectangle 26"/>
          <p:cNvSpPr/>
          <p:nvPr/>
        </p:nvSpPr>
        <p:spPr>
          <a:xfrm>
            <a:off x="8092440" y="1691640"/>
            <a:ext cx="3611520" cy="91404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2" name="TextBox 27"/>
          <p:cNvSpPr/>
          <p:nvPr/>
        </p:nvSpPr>
        <p:spPr>
          <a:xfrm>
            <a:off x="8183880" y="1877760"/>
            <a:ext cx="342864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The golden set is narrower than the full range of real tenders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Box 28"/>
          <p:cNvSpPr/>
          <p:nvPr/>
        </p:nvSpPr>
        <p:spPr>
          <a:xfrm>
            <a:off x="502920" y="278892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e7c99"/>
                </a:solidFill>
                <a:uFillTx/>
                <a:latin typeface="Calibri"/>
              </a:rPr>
              <a:t>Future work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Rounded Rectangle 29"/>
          <p:cNvSpPr/>
          <p:nvPr/>
        </p:nvSpPr>
        <p:spPr>
          <a:xfrm>
            <a:off x="914400" y="3310200"/>
            <a:ext cx="10423800" cy="63720"/>
          </a:xfrm>
          <a:prstGeom prst="roundRect">
            <a:avLst>
              <a:gd name="adj" fmla="val 50000"/>
            </a:avLst>
          </a:prstGeom>
          <a:solidFill>
            <a:srgbClr val="9a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5" name="Oval 30"/>
          <p:cNvSpPr/>
          <p:nvPr/>
        </p:nvSpPr>
        <p:spPr>
          <a:xfrm>
            <a:off x="1417320" y="3108960"/>
            <a:ext cx="456840" cy="456840"/>
          </a:xfrm>
          <a:prstGeom prst="ellipse">
            <a:avLst/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6" name="Rounded Rectangle 31"/>
          <p:cNvSpPr/>
          <p:nvPr/>
        </p:nvSpPr>
        <p:spPr>
          <a:xfrm>
            <a:off x="50292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7" name="TextBox 32"/>
          <p:cNvSpPr/>
          <p:nvPr/>
        </p:nvSpPr>
        <p:spPr>
          <a:xfrm>
            <a:off x="57600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NEAR TERM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TextBox 33"/>
          <p:cNvSpPr/>
          <p:nvPr/>
        </p:nvSpPr>
        <p:spPr>
          <a:xfrm>
            <a:off x="576000" y="3986640"/>
            <a:ext cx="1956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Expert-agreement study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TextBox 34"/>
          <p:cNvSpPr/>
          <p:nvPr/>
        </p:nvSpPr>
        <p:spPr>
          <a:xfrm>
            <a:off x="576000" y="4526280"/>
            <a:ext cx="1956600" cy="11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A panel of estimators scores the same tenders; report agreement and Cohen's kappa.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Oval 35"/>
          <p:cNvSpPr/>
          <p:nvPr/>
        </p:nvSpPr>
        <p:spPr>
          <a:xfrm>
            <a:off x="3694320" y="3108960"/>
            <a:ext cx="456840" cy="456840"/>
          </a:xfrm>
          <a:prstGeom prst="ellipse">
            <a:avLst/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Rounded Rectangle 36"/>
          <p:cNvSpPr/>
          <p:nvPr/>
        </p:nvSpPr>
        <p:spPr>
          <a:xfrm>
            <a:off x="277992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52" name="TextBox 37"/>
          <p:cNvSpPr/>
          <p:nvPr/>
        </p:nvSpPr>
        <p:spPr>
          <a:xfrm>
            <a:off x="285300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NEAR TERM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TextBox 38"/>
          <p:cNvSpPr/>
          <p:nvPr/>
        </p:nvSpPr>
        <p:spPr>
          <a:xfrm>
            <a:off x="285300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Grow the golden set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TextBox 39"/>
          <p:cNvSpPr/>
          <p:nvPr/>
        </p:nvSpPr>
        <p:spPr>
          <a:xfrm>
            <a:off x="2853000" y="4526280"/>
            <a:ext cx="19566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More tenders and clause types, with thresholds tightened to match.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Oval 40"/>
          <p:cNvSpPr/>
          <p:nvPr/>
        </p:nvSpPr>
        <p:spPr>
          <a:xfrm>
            <a:off x="5970960" y="3108960"/>
            <a:ext cx="456840" cy="45684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Rounded Rectangle 41"/>
          <p:cNvSpPr/>
          <p:nvPr/>
        </p:nvSpPr>
        <p:spPr>
          <a:xfrm>
            <a:off x="505656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57" name="TextBox 42"/>
          <p:cNvSpPr/>
          <p:nvPr/>
        </p:nvSpPr>
        <p:spPr>
          <a:xfrm>
            <a:off x="5129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NEXT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TextBox 43"/>
          <p:cNvSpPr/>
          <p:nvPr/>
        </p:nvSpPr>
        <p:spPr>
          <a:xfrm>
            <a:off x="5129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Learn from outcomes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Box 44"/>
          <p:cNvSpPr/>
          <p:nvPr/>
        </p:nvSpPr>
        <p:spPr>
          <a:xfrm>
            <a:off x="5129640" y="4526280"/>
            <a:ext cx="19566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Use published award outcomes to calibrate gate thresholds and risk weights.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Oval 45"/>
          <p:cNvSpPr/>
          <p:nvPr/>
        </p:nvSpPr>
        <p:spPr>
          <a:xfrm>
            <a:off x="8247960" y="3108960"/>
            <a:ext cx="456840" cy="45684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Rounded Rectangle 46"/>
          <p:cNvSpPr/>
          <p:nvPr/>
        </p:nvSpPr>
        <p:spPr>
          <a:xfrm>
            <a:off x="733356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62" name="TextBox 47"/>
          <p:cNvSpPr/>
          <p:nvPr/>
        </p:nvSpPr>
        <p:spPr>
          <a:xfrm>
            <a:off x="7406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NEXT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TextBox 48"/>
          <p:cNvSpPr/>
          <p:nvPr/>
        </p:nvSpPr>
        <p:spPr>
          <a:xfrm>
            <a:off x="7406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More portals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TextBox 49"/>
          <p:cNvSpPr/>
          <p:nvPr/>
        </p:nvSpPr>
        <p:spPr>
          <a:xfrm>
            <a:off x="7406640" y="4526280"/>
            <a:ext cx="19566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Extend beyond CPPP to state e-procurement portals, with per-company profiles.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Oval 50"/>
          <p:cNvSpPr/>
          <p:nvPr/>
        </p:nvSpPr>
        <p:spPr>
          <a:xfrm>
            <a:off x="10524600" y="3108960"/>
            <a:ext cx="456840" cy="456840"/>
          </a:xfrm>
          <a:prstGeom prst="ellipse">
            <a:avLst/>
          </a:prstGeom>
          <a:solidFill>
            <a:srgbClr val="9a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Rounded Rectangle 51"/>
          <p:cNvSpPr/>
          <p:nvPr/>
        </p:nvSpPr>
        <p:spPr>
          <a:xfrm>
            <a:off x="961020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67" name="TextBox 52"/>
          <p:cNvSpPr/>
          <p:nvPr/>
        </p:nvSpPr>
        <p:spPr>
          <a:xfrm>
            <a:off x="9683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LATER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TextBox 53"/>
          <p:cNvSpPr/>
          <p:nvPr/>
        </p:nvSpPr>
        <p:spPr>
          <a:xfrm>
            <a:off x="9683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Wider documents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TextBox 54"/>
          <p:cNvSpPr/>
          <p:nvPr/>
        </p:nvSpPr>
        <p:spPr>
          <a:xfrm>
            <a:off x="9683640" y="4526280"/>
            <a:ext cx="19566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Scanned drawings, tables and multilingual tenders.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5"/>
          <p:cNvSpPr/>
          <p:nvPr/>
        </p:nvSpPr>
        <p:spPr>
          <a:xfrm>
            <a:off x="-31320" y="29880"/>
            <a:ext cx="12253680" cy="6867720"/>
          </a:xfrm>
          <a:prstGeom prst="rect">
            <a:avLst/>
          </a:prstGeom>
          <a:gradFill rotWithShape="0"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Frutiger LT Pro 45 Light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/>
          </p:nvPr>
        </p:nvSpPr>
        <p:spPr>
          <a:xfrm>
            <a:off x="2289600" y="17640"/>
            <a:ext cx="69094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Frutiger 45 bold"/>
              </a:rPr>
              <a:t>M.Tech/MCA Program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lt1"/>
                </a:solidFill>
                <a:uFillTx/>
                <a:latin typeface="Frutiger 45 bold"/>
              </a:rPr>
              <a:t>Advanced Industry Integrated Programs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72" name="Straight Connector 14"/>
          <p:cNvCxnSpPr/>
          <p:nvPr/>
        </p:nvCxnSpPr>
        <p:spPr>
          <a:xfrm>
            <a:off x="2977200" y="1119960"/>
            <a:ext cx="5866920" cy="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273" name="Rectangle: Rounded Corners 15"/>
          <p:cNvSpPr/>
          <p:nvPr/>
        </p:nvSpPr>
        <p:spPr>
          <a:xfrm>
            <a:off x="4125960" y="1177560"/>
            <a:ext cx="3032280" cy="464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595959"/>
                </a:solidFill>
                <a:uFillTx/>
                <a:latin typeface="Frutiger 45 bold"/>
              </a:rPr>
              <a:t>Jointly offered by University and LTIMindTree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180360" y="1659960"/>
            <a:ext cx="11427480" cy="40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Calibri"/>
              </a:rPr>
              <a:t>Review III  ·  Project 2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uFillTx/>
                <a:latin typeface="Calibri"/>
              </a:rPr>
              <a:t>Agentic AI-Based Peer-to-Peer Energy Trading in Microgrids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M.Tech Industry Accelerate Program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Team Member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HARISH P — VIT Chennai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T-SERIES — T9994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75" name="Table 2"/>
          <p:cNvGraphicFramePr/>
          <p:nvPr/>
        </p:nvGraphicFramePr>
        <p:xfrm>
          <a:off x="-47160" y="5501160"/>
          <a:ext cx="12238200" cy="326484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6119280"/>
                <a:gridCol w="6119280"/>
              </a:tblGrid>
              <a:tr h="1527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Knowledge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                                                                     </a:t>
                      </a: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Implementation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184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6" name="Picture 7" descr=""/>
          <p:cNvPicPr/>
          <p:nvPr/>
        </p:nvPicPr>
        <p:blipFill>
          <a:blip r:embed="rId1"/>
          <a:stretch/>
        </p:blipFill>
        <p:spPr>
          <a:xfrm>
            <a:off x="9775440" y="5852520"/>
            <a:ext cx="198684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2" descr="LTIMindtree - Technology Consulting and Digital Solutions Company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5852520"/>
            <a:ext cx="3885840" cy="86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79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280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Solar is sold cheap and bought back dear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Rounded Rectangle 22"/>
          <p:cNvSpPr/>
          <p:nvPr/>
        </p:nvSpPr>
        <p:spPr>
          <a:xfrm>
            <a:off x="521208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3" name="TextBox 23"/>
          <p:cNvSpPr/>
          <p:nvPr/>
        </p:nvSpPr>
        <p:spPr>
          <a:xfrm>
            <a:off x="525780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₹</a:t>
            </a: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3.61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TextBox 24"/>
          <p:cNvSpPr/>
          <p:nvPr/>
        </p:nvSpPr>
        <p:spPr>
          <a:xfrm>
            <a:off x="5303520" y="2583000"/>
            <a:ext cx="18741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paid per unit to sell spare solar to the Electricity Board (EB)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Rounded Rectangle 25"/>
          <p:cNvSpPr/>
          <p:nvPr/>
        </p:nvSpPr>
        <p:spPr>
          <a:xfrm>
            <a:off x="742968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6" name="TextBox 26"/>
          <p:cNvSpPr/>
          <p:nvPr/>
        </p:nvSpPr>
        <p:spPr>
          <a:xfrm>
            <a:off x="747540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₹</a:t>
            </a:r>
            <a:r>
              <a:rPr b="1" lang="en-US" sz="4000" strike="noStrike" u="none">
                <a:solidFill>
                  <a:srgbClr val="0e7c99"/>
                </a:solidFill>
                <a:uFillTx/>
                <a:latin typeface="Calibri"/>
              </a:rPr>
              <a:t>10.50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TextBox 27"/>
          <p:cNvSpPr/>
          <p:nvPr/>
        </p:nvSpPr>
        <p:spPr>
          <a:xfrm>
            <a:off x="7521120" y="2583000"/>
            <a:ext cx="18741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paid per unit to buy power back after dark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Rounded Rectangle 28"/>
          <p:cNvSpPr/>
          <p:nvPr/>
        </p:nvSpPr>
        <p:spPr>
          <a:xfrm>
            <a:off x="9646920" y="1783080"/>
            <a:ext cx="2057040" cy="15998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9" name="TextBox 29"/>
          <p:cNvSpPr/>
          <p:nvPr/>
        </p:nvSpPr>
        <p:spPr>
          <a:xfrm>
            <a:off x="9692640" y="1908360"/>
            <a:ext cx="196560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4000" strike="noStrike" u="none">
                <a:solidFill>
                  <a:srgbClr val="c97f00"/>
                </a:solidFill>
                <a:uFillTx/>
                <a:latin typeface="Calibri"/>
              </a:rPr>
              <a:t>2.9×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Box 30"/>
          <p:cNvSpPr/>
          <p:nvPr/>
        </p:nvSpPr>
        <p:spPr>
          <a:xfrm>
            <a:off x="9738360" y="2583000"/>
            <a:ext cx="187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price gap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1" name="Picture 31" descr="houses.jpg"/>
          <p:cNvPicPr/>
          <p:nvPr/>
        </p:nvPicPr>
        <p:blipFill>
          <a:blip r:embed="rId1"/>
          <a:srcRect l="18206" t="0" r="18206" b="0"/>
          <a:stretch/>
        </p:blipFill>
        <p:spPr>
          <a:xfrm>
            <a:off x="502920" y="1783080"/>
            <a:ext cx="448020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Rounded Rectangle 32"/>
          <p:cNvSpPr/>
          <p:nvPr/>
        </p:nvSpPr>
        <p:spPr>
          <a:xfrm>
            <a:off x="5212080" y="352044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3" name="Oval 33"/>
          <p:cNvSpPr/>
          <p:nvPr/>
        </p:nvSpPr>
        <p:spPr>
          <a:xfrm>
            <a:off x="5326560" y="366228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4" name="TextBox 34"/>
          <p:cNvSpPr/>
          <p:nvPr/>
        </p:nvSpPr>
        <p:spPr>
          <a:xfrm>
            <a:off x="5806440" y="368964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Predicts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TextBox 35"/>
          <p:cNvSpPr/>
          <p:nvPr/>
        </p:nvSpPr>
        <p:spPr>
          <a:xfrm>
            <a:off x="7635240" y="3705120"/>
            <a:ext cx="39772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power use and solar, 4 to 24 hours ahead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Rounded Rectangle 36"/>
          <p:cNvSpPr/>
          <p:nvPr/>
        </p:nvSpPr>
        <p:spPr>
          <a:xfrm>
            <a:off x="5212080" y="427932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7" name="Oval 37"/>
          <p:cNvSpPr/>
          <p:nvPr/>
        </p:nvSpPr>
        <p:spPr>
          <a:xfrm>
            <a:off x="5326560" y="442116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8" name="TextBox 38"/>
          <p:cNvSpPr/>
          <p:nvPr/>
        </p:nvSpPr>
        <p:spPr>
          <a:xfrm>
            <a:off x="5806440" y="444852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Trades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TextBox 39"/>
          <p:cNvSpPr/>
          <p:nvPr/>
        </p:nvSpPr>
        <p:spPr>
          <a:xfrm>
            <a:off x="7635240" y="4341960"/>
            <a:ext cx="39772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with neighbours and the EB, one hour ahead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Rounded Rectangle 40"/>
          <p:cNvSpPr/>
          <p:nvPr/>
        </p:nvSpPr>
        <p:spPr>
          <a:xfrm>
            <a:off x="5212080" y="5038200"/>
            <a:ext cx="6491880" cy="667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01" name="Oval 41"/>
          <p:cNvSpPr/>
          <p:nvPr/>
        </p:nvSpPr>
        <p:spPr>
          <a:xfrm>
            <a:off x="5326560" y="5180040"/>
            <a:ext cx="383760" cy="38376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2" name="TextBox 42"/>
          <p:cNvSpPr/>
          <p:nvPr/>
        </p:nvSpPr>
        <p:spPr>
          <a:xfrm>
            <a:off x="5806440" y="5207400"/>
            <a:ext cx="1782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Explains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TextBox 43"/>
          <p:cNvSpPr/>
          <p:nvPr/>
        </p:nvSpPr>
        <p:spPr>
          <a:xfrm>
            <a:off x="7635240" y="5222880"/>
            <a:ext cx="39772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every decision in plain words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Rounded Rectangle 44"/>
          <p:cNvSpPr/>
          <p:nvPr/>
        </p:nvSpPr>
        <p:spPr>
          <a:xfrm>
            <a:off x="594360" y="4663440"/>
            <a:ext cx="4297320" cy="95976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05" name="TextBox 45"/>
          <p:cNvSpPr/>
          <p:nvPr/>
        </p:nvSpPr>
        <p:spPr>
          <a:xfrm>
            <a:off x="685800" y="4857120"/>
            <a:ext cx="411444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Each home gets a software agent. A safety check approves every trade.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Objectives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07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308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Rounded Rectangle 21"/>
          <p:cNvSpPr/>
          <p:nvPr/>
        </p:nvSpPr>
        <p:spPr>
          <a:xfrm>
            <a:off x="502920" y="137160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0" name="Oval 22"/>
          <p:cNvSpPr/>
          <p:nvPr/>
        </p:nvSpPr>
        <p:spPr>
          <a:xfrm>
            <a:off x="640080" y="157284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O1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1" name="TextBox 23"/>
          <p:cNvSpPr/>
          <p:nvPr/>
        </p:nvSpPr>
        <p:spPr>
          <a:xfrm>
            <a:off x="1371600" y="156528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Forecast each home's load and solar 1–24 h ahead, with calibrated uncertainty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Rounded Rectangle 24"/>
          <p:cNvSpPr/>
          <p:nvPr/>
        </p:nvSpPr>
        <p:spPr>
          <a:xfrm>
            <a:off x="502920" y="24505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3" name="Oval 25"/>
          <p:cNvSpPr/>
          <p:nvPr/>
        </p:nvSpPr>
        <p:spPr>
          <a:xfrm>
            <a:off x="640080" y="265176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O2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4" name="TextBox 26"/>
          <p:cNvSpPr/>
          <p:nvPr/>
        </p:nvSpPr>
        <p:spPr>
          <a:xfrm>
            <a:off x="1371600" y="264420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Match buyers and sellers in a double auction, with the EB as fallback provider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Rounded Rectangle 27"/>
          <p:cNvSpPr/>
          <p:nvPr/>
        </p:nvSpPr>
        <p:spPr>
          <a:xfrm>
            <a:off x="502920" y="352944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6" name="Oval 28"/>
          <p:cNvSpPr/>
          <p:nvPr/>
        </p:nvSpPr>
        <p:spPr>
          <a:xfrm>
            <a:off x="640080" y="373068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O3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7" name="TextBox 29"/>
          <p:cNvSpPr/>
          <p:nvPr/>
        </p:nvSpPr>
        <p:spPr>
          <a:xfrm>
            <a:off x="1371600" y="372312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Trade autonomously, fast enough for a 100-home feeder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Rounded Rectangle 30"/>
          <p:cNvSpPr/>
          <p:nvPr/>
        </p:nvSpPr>
        <p:spPr>
          <a:xfrm>
            <a:off x="502920" y="46087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9" name="Oval 31"/>
          <p:cNvSpPr/>
          <p:nvPr/>
        </p:nvSpPr>
        <p:spPr>
          <a:xfrm>
            <a:off x="640080" y="4809600"/>
            <a:ext cx="566640" cy="566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O4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0" name="TextBox 32"/>
          <p:cNvSpPr/>
          <p:nvPr/>
        </p:nvSpPr>
        <p:spPr>
          <a:xfrm>
            <a:off x="1371600" y="480204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Keep every trade within line and voltage limits, verified by full AC power flow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Rounded Rectangle 33"/>
          <p:cNvSpPr/>
          <p:nvPr/>
        </p:nvSpPr>
        <p:spPr>
          <a:xfrm>
            <a:off x="6172200" y="137160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2" name="Oval 34"/>
          <p:cNvSpPr/>
          <p:nvPr/>
        </p:nvSpPr>
        <p:spPr>
          <a:xfrm>
            <a:off x="6309360" y="1572840"/>
            <a:ext cx="566640" cy="566640"/>
          </a:xfrm>
          <a:prstGeom prst="ellipse">
            <a:avLst/>
          </a:prstGeom>
          <a:solidFill>
            <a:srgbClr val="0e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O5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3" name="TextBox 35"/>
          <p:cNvSpPr/>
          <p:nvPr/>
        </p:nvSpPr>
        <p:spPr>
          <a:xfrm>
            <a:off x="7040880" y="1694880"/>
            <a:ext cx="45259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Keep more solar inside the community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Rounded Rectangle 36"/>
          <p:cNvSpPr/>
          <p:nvPr/>
        </p:nvSpPr>
        <p:spPr>
          <a:xfrm>
            <a:off x="6172200" y="24505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5" name="Oval 37"/>
          <p:cNvSpPr/>
          <p:nvPr/>
        </p:nvSpPr>
        <p:spPr>
          <a:xfrm>
            <a:off x="6309360" y="2651760"/>
            <a:ext cx="566640" cy="566640"/>
          </a:xfrm>
          <a:prstGeom prst="ellipse">
            <a:avLst/>
          </a:prstGeom>
          <a:solidFill>
            <a:srgbClr val="0e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O6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6" name="TextBox 38"/>
          <p:cNvSpPr/>
          <p:nvPr/>
        </p:nvSpPr>
        <p:spPr>
          <a:xfrm>
            <a:off x="7040880" y="2773800"/>
            <a:ext cx="45259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Cut household bills, with no home worse off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Rounded Rectangle 39"/>
          <p:cNvSpPr/>
          <p:nvPr/>
        </p:nvSpPr>
        <p:spPr>
          <a:xfrm>
            <a:off x="6172200" y="352944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8" name="Oval 40"/>
          <p:cNvSpPr/>
          <p:nvPr/>
        </p:nvSpPr>
        <p:spPr>
          <a:xfrm>
            <a:off x="6309360" y="3730680"/>
            <a:ext cx="566640" cy="566640"/>
          </a:xfrm>
          <a:prstGeom prst="ellipse">
            <a:avLst/>
          </a:prstGeom>
          <a:solidFill>
            <a:srgbClr val="0e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O7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9" name="TextBox 41"/>
          <p:cNvSpPr/>
          <p:nvPr/>
        </p:nvSpPr>
        <p:spPr>
          <a:xfrm>
            <a:off x="7040880" y="3723120"/>
            <a:ext cx="45259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700" strike="noStrike" u="none">
                <a:solidFill>
                  <a:srgbClr val="1e2a38"/>
                </a:solidFill>
                <a:uFillTx/>
                <a:latin typeface="Calibri"/>
              </a:rPr>
              <a:t>Explain every decision in plain language, with a machine-readable record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0" name="Picture 42" descr="image15.png"/>
          <p:cNvPicPr/>
          <p:nvPr/>
        </p:nvPicPr>
        <p:blipFill>
          <a:blip r:embed="rId1"/>
          <a:srcRect l="0" t="36917" r="0" b="36917"/>
          <a:stretch/>
        </p:blipFill>
        <p:spPr>
          <a:xfrm>
            <a:off x="6172200" y="4608720"/>
            <a:ext cx="5486040" cy="9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Rounded Rectangle 43"/>
          <p:cNvSpPr/>
          <p:nvPr/>
        </p:nvSpPr>
        <p:spPr>
          <a:xfrm>
            <a:off x="6172200" y="4608720"/>
            <a:ext cx="5486040" cy="959760"/>
          </a:xfrm>
          <a:prstGeom prst="roundRect">
            <a:avLst>
              <a:gd name="adj" fmla="val 8000"/>
            </a:avLst>
          </a:prstGeom>
          <a:solidFill>
            <a:srgbClr val="0b2a5b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libri"/>
              </a:rPr>
              <a:t>Seven objectives, measured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Problem Statement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33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334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No way to trade with neighbours — safely, ahead of time, under uncertainty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6" name="Picture 22" descr="image10.png"/>
          <p:cNvPicPr/>
          <p:nvPr/>
        </p:nvPicPr>
        <p:blipFill>
          <a:blip r:embed="rId1"/>
          <a:srcRect l="0" t="7262" r="0" b="7262"/>
          <a:stretch/>
        </p:blipFill>
        <p:spPr>
          <a:xfrm>
            <a:off x="502920" y="1783080"/>
            <a:ext cx="38401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Rounded Rectangle 23"/>
          <p:cNvSpPr/>
          <p:nvPr/>
        </p:nvSpPr>
        <p:spPr>
          <a:xfrm>
            <a:off x="4572000" y="1783080"/>
            <a:ext cx="71319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38" name="TextBox 24"/>
          <p:cNvSpPr/>
          <p:nvPr/>
        </p:nvSpPr>
        <p:spPr>
          <a:xfrm>
            <a:off x="4709160" y="1933560"/>
            <a:ext cx="6857640" cy="15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trike="noStrike" u="none">
                <a:solidFill>
                  <a:srgbClr val="1e2a38"/>
                </a:solidFill>
                <a:uFillTx/>
                <a:latin typeface="Calibri"/>
              </a:rPr>
              <a:t>In a residential microgrid with rooftop solar and batteries, surplus energy is exported to the EB cheaply while a neighbour buys at retail an hour later.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trike="noStrike" u="none">
                <a:solidFill>
                  <a:srgbClr val="1e2a38"/>
                </a:solidFill>
                <a:uFillTx/>
                <a:latin typeface="Calibri"/>
              </a:rPr>
              <a:t>Households need to trade with each other — safely, ahead of time, and under uncertainty.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Rounded Rectangle 25"/>
          <p:cNvSpPr/>
          <p:nvPr/>
        </p:nvSpPr>
        <p:spPr>
          <a:xfrm>
            <a:off x="502920" y="3840480"/>
            <a:ext cx="21027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0" name="TextBox 26"/>
          <p:cNvSpPr/>
          <p:nvPr/>
        </p:nvSpPr>
        <p:spPr>
          <a:xfrm>
            <a:off x="576000" y="38862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Uncertainty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TextBox 27"/>
          <p:cNvSpPr/>
          <p:nvPr/>
        </p:nvSpPr>
        <p:spPr>
          <a:xfrm>
            <a:off x="576000" y="4297680"/>
            <a:ext cx="19566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 home must commit before it knows its actual load and sun.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Rounded Rectangle 28"/>
          <p:cNvSpPr/>
          <p:nvPr/>
        </p:nvSpPr>
        <p:spPr>
          <a:xfrm>
            <a:off x="2775240" y="3840480"/>
            <a:ext cx="21027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3" name="TextBox 29"/>
          <p:cNvSpPr/>
          <p:nvPr/>
        </p:nvSpPr>
        <p:spPr>
          <a:xfrm>
            <a:off x="2848320" y="38862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Coordination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TextBox 30"/>
          <p:cNvSpPr/>
          <p:nvPr/>
        </p:nvSpPr>
        <p:spPr>
          <a:xfrm>
            <a:off x="2848320" y="4297680"/>
            <a:ext cx="195660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Many small traders, no central controller; prices fair against EB tariffs.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Rounded Rectangle 31"/>
          <p:cNvSpPr/>
          <p:nvPr/>
        </p:nvSpPr>
        <p:spPr>
          <a:xfrm>
            <a:off x="5047560" y="3840480"/>
            <a:ext cx="21027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6" name="TextBox 32"/>
          <p:cNvSpPr/>
          <p:nvPr/>
        </p:nvSpPr>
        <p:spPr>
          <a:xfrm>
            <a:off x="5120640" y="38862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Physical safety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TextBox 33"/>
          <p:cNvSpPr/>
          <p:nvPr/>
        </p:nvSpPr>
        <p:spPr>
          <a:xfrm>
            <a:off x="5120640" y="4297680"/>
            <a:ext cx="195660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Trades flow over a real LV feeder with thermal and voltage limits.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Rounded Rectangle 34"/>
          <p:cNvSpPr/>
          <p:nvPr/>
        </p:nvSpPr>
        <p:spPr>
          <a:xfrm>
            <a:off x="7319880" y="3840480"/>
            <a:ext cx="21027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9" name="TextBox 35"/>
          <p:cNvSpPr/>
          <p:nvPr/>
        </p:nvSpPr>
        <p:spPr>
          <a:xfrm>
            <a:off x="7392960" y="38862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Trust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TextBox 36"/>
          <p:cNvSpPr/>
          <p:nvPr/>
        </p:nvSpPr>
        <p:spPr>
          <a:xfrm>
            <a:off x="7392960" y="4297680"/>
            <a:ext cx="19566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 household must be able to see why its agent traded.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Rounded Rectangle 37"/>
          <p:cNvSpPr/>
          <p:nvPr/>
        </p:nvSpPr>
        <p:spPr>
          <a:xfrm>
            <a:off x="9592200" y="3840480"/>
            <a:ext cx="21027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52" name="TextBox 38"/>
          <p:cNvSpPr/>
          <p:nvPr/>
        </p:nvSpPr>
        <p:spPr>
          <a:xfrm>
            <a:off x="9665280" y="38862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Data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TextBox 39"/>
          <p:cNvSpPr/>
          <p:nvPr/>
        </p:nvSpPr>
        <p:spPr>
          <a:xfrm>
            <a:off x="9665280" y="4297680"/>
            <a:ext cx="195660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No public dataset gives 15-minute solar and appliance-level demand for Chennai homes.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Modules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55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356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TextBox 21"/>
          <p:cNvSpPr/>
          <p:nvPr/>
        </p:nvSpPr>
        <p:spPr>
          <a:xfrm>
            <a:off x="457200" y="1280160"/>
            <a:ext cx="11246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900" strike="noStrike" u="none">
                <a:solidFill>
                  <a:srgbClr val="0e7c99"/>
                </a:solidFill>
                <a:uFillTx/>
                <a:latin typeface="Calibri"/>
              </a:rPr>
              <a:t>From data to dashboard — six modules, end to end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Rounded Rectangle 22"/>
          <p:cNvSpPr/>
          <p:nvPr/>
        </p:nvSpPr>
        <p:spPr>
          <a:xfrm>
            <a:off x="50292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59" name="Oval 23"/>
          <p:cNvSpPr/>
          <p:nvPr/>
        </p:nvSpPr>
        <p:spPr>
          <a:xfrm>
            <a:off x="64008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0" name="TextBox 24"/>
          <p:cNvSpPr/>
          <p:nvPr/>
        </p:nvSpPr>
        <p:spPr>
          <a:xfrm>
            <a:off x="118872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Data and simulation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TextBox 25"/>
          <p:cNvSpPr/>
          <p:nvPr/>
        </p:nvSpPr>
        <p:spPr>
          <a:xfrm>
            <a:off x="64008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Calibrated synthetic Chennai data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Box 26"/>
          <p:cNvSpPr/>
          <p:nvPr/>
        </p:nvSpPr>
        <p:spPr>
          <a:xfrm>
            <a:off x="640080" y="2724840"/>
            <a:ext cx="33372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Solar position, clear-sky, Markov rain and cloud, IMD temperatures, occupancy-driven appliances. 20 of 20 checks pass.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Rounded Rectangle 27"/>
          <p:cNvSpPr/>
          <p:nvPr/>
        </p:nvSpPr>
        <p:spPr>
          <a:xfrm>
            <a:off x="429768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4" name="Oval 28"/>
          <p:cNvSpPr/>
          <p:nvPr/>
        </p:nvSpPr>
        <p:spPr>
          <a:xfrm>
            <a:off x="443484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5" name="TextBox 29"/>
          <p:cNvSpPr/>
          <p:nvPr/>
        </p:nvSpPr>
        <p:spPr>
          <a:xfrm>
            <a:off x="498348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Forecasting engine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TextBox 30"/>
          <p:cNvSpPr/>
          <p:nvPr/>
        </p:nvSpPr>
        <p:spPr>
          <a:xfrm>
            <a:off x="443484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Hourly P10 / P50 / P90, 1–24 h ahead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TextBox 31"/>
          <p:cNvSpPr/>
          <p:nvPr/>
        </p:nvSpPr>
        <p:spPr>
          <a:xfrm>
            <a:off x="4434840" y="272484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LightGBM quantile regression with asymmetric conformal calibration; LSTM and same-hour-yesterday benchmarks.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Rounded Rectangle 32"/>
          <p:cNvSpPr/>
          <p:nvPr/>
        </p:nvSpPr>
        <p:spPr>
          <a:xfrm>
            <a:off x="8092440" y="173736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9" name="Oval 33"/>
          <p:cNvSpPr/>
          <p:nvPr/>
        </p:nvSpPr>
        <p:spPr>
          <a:xfrm>
            <a:off x="8229600" y="187452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0" name="TextBox 34"/>
          <p:cNvSpPr/>
          <p:nvPr/>
        </p:nvSpPr>
        <p:spPr>
          <a:xfrm>
            <a:off x="8778240" y="194616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Household agents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TextBox 35"/>
          <p:cNvSpPr/>
          <p:nvPr/>
        </p:nvSpPr>
        <p:spPr>
          <a:xfrm>
            <a:off x="8229600" y="241416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One decision graph per hour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TextBox 36"/>
          <p:cNvSpPr/>
          <p:nvPr/>
        </p:nvSpPr>
        <p:spPr>
          <a:xfrm>
            <a:off x="8229600" y="272484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LangGraph: perceive → project battery → value risk → order → explain. Newsvendor bid sizing, price learning.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Rounded Rectangle 37"/>
          <p:cNvSpPr/>
          <p:nvPr/>
        </p:nvSpPr>
        <p:spPr>
          <a:xfrm>
            <a:off x="50292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4" name="Oval 38"/>
          <p:cNvSpPr/>
          <p:nvPr/>
        </p:nvSpPr>
        <p:spPr>
          <a:xfrm>
            <a:off x="64008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5" name="TextBox 39"/>
          <p:cNvSpPr/>
          <p:nvPr/>
        </p:nvSpPr>
        <p:spPr>
          <a:xfrm>
            <a:off x="118872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Market engine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TextBox 40"/>
          <p:cNvSpPr/>
          <p:nvPr/>
        </p:nvSpPr>
        <p:spPr>
          <a:xfrm>
            <a:off x="64008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Hourly ahead market with the EB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TextBox 41"/>
          <p:cNvSpPr/>
          <p:nvPr/>
        </p:nvSpPr>
        <p:spPr>
          <a:xfrm>
            <a:off x="640080" y="484632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Planning sessions (4/8/12/24 h), multi-round negotiation, uniform-price double auction, hash-chained ledger.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Rounded Rectangle 42"/>
          <p:cNvSpPr/>
          <p:nvPr/>
        </p:nvSpPr>
        <p:spPr>
          <a:xfrm>
            <a:off x="429768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9" name="Oval 43"/>
          <p:cNvSpPr/>
          <p:nvPr/>
        </p:nvSpPr>
        <p:spPr>
          <a:xfrm>
            <a:off x="443484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5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0" name="TextBox 44"/>
          <p:cNvSpPr/>
          <p:nvPr/>
        </p:nvSpPr>
        <p:spPr>
          <a:xfrm>
            <a:off x="498348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Grid safety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TextBox 45"/>
          <p:cNvSpPr/>
          <p:nvPr/>
        </p:nvSpPr>
        <p:spPr>
          <a:xfrm>
            <a:off x="443484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Hard check before clearing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TextBox 46"/>
          <p:cNvSpPr/>
          <p:nvPr/>
        </p:nvSpPr>
        <p:spPr>
          <a:xfrm>
            <a:off x="4434840" y="4846320"/>
            <a:ext cx="33372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Linearised DistFlow with a 0.015 pu margin; unsafe trades curtailed; verified by full AC power flow.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Rounded Rectangle 47"/>
          <p:cNvSpPr/>
          <p:nvPr/>
        </p:nvSpPr>
        <p:spPr>
          <a:xfrm>
            <a:off x="8092440" y="3858840"/>
            <a:ext cx="3611520" cy="2011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84" name="Oval 48"/>
          <p:cNvSpPr/>
          <p:nvPr/>
        </p:nvSpPr>
        <p:spPr>
          <a:xfrm>
            <a:off x="8229600" y="3996000"/>
            <a:ext cx="456840" cy="4568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6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5" name="TextBox 49"/>
          <p:cNvSpPr/>
          <p:nvPr/>
        </p:nvSpPr>
        <p:spPr>
          <a:xfrm>
            <a:off x="8778240" y="4067640"/>
            <a:ext cx="27885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0b2a5b"/>
                </a:solidFill>
                <a:uFillTx/>
                <a:latin typeface="Calibri"/>
              </a:rPr>
              <a:t>Application and evaluation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TextBox 50"/>
          <p:cNvSpPr/>
          <p:nvPr/>
        </p:nvSpPr>
        <p:spPr>
          <a:xfrm>
            <a:off x="8229600" y="4535280"/>
            <a:ext cx="33372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i="1" lang="en-US" sz="1400" strike="noStrike" u="none">
                <a:solidFill>
                  <a:srgbClr val="1b8a3a"/>
                </a:solidFill>
                <a:uFillTx/>
                <a:latin typeface="Calibri"/>
              </a:rPr>
              <a:t>Web app and O1–O7 harness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TextBox 51"/>
          <p:cNvSpPr/>
          <p:nvPr/>
        </p:nvSpPr>
        <p:spPr>
          <a:xfrm>
            <a:off x="8229600" y="4846320"/>
            <a:ext cx="33372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FastAPI + React dashboard, chat advisor, JWT login, Docker; seeded evaluation suite with optimal benchmarks.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Methodology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9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390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TextBox 21"/>
          <p:cNvSpPr/>
          <p:nvPr/>
        </p:nvSpPr>
        <p:spPr>
          <a:xfrm>
            <a:off x="1371600" y="1280160"/>
            <a:ext cx="4571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e7c99"/>
                </a:solidFill>
                <a:uFillTx/>
                <a:latin typeface="Calibri"/>
              </a:rPr>
              <a:t>WHAT IS BUILT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TextBox 22"/>
          <p:cNvSpPr/>
          <p:nvPr/>
        </p:nvSpPr>
        <p:spPr>
          <a:xfrm>
            <a:off x="6455520" y="1280160"/>
            <a:ext cx="4571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e7c99"/>
                </a:solidFill>
                <a:uFillTx/>
                <a:latin typeface="Calibri"/>
              </a:rPr>
              <a:t>HOW IT IS VALIDATED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Oval 23"/>
          <p:cNvSpPr/>
          <p:nvPr/>
        </p:nvSpPr>
        <p:spPr>
          <a:xfrm>
            <a:off x="502920" y="167328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4" name="Rounded Rectangle 24"/>
          <p:cNvSpPr/>
          <p:nvPr/>
        </p:nvSpPr>
        <p:spPr>
          <a:xfrm>
            <a:off x="1188720" y="164592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5" name="TextBox 25"/>
          <p:cNvSpPr/>
          <p:nvPr/>
        </p:nvSpPr>
        <p:spPr>
          <a:xfrm>
            <a:off x="1261800" y="1813680"/>
            <a:ext cx="4708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Data: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Calibrated Chennai simulator, 10 homes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Right Arrow 26"/>
          <p:cNvSpPr/>
          <p:nvPr/>
        </p:nvSpPr>
        <p:spPr>
          <a:xfrm>
            <a:off x="6089760" y="181044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7" name="Rounded Rectangle 27"/>
          <p:cNvSpPr/>
          <p:nvPr/>
        </p:nvSpPr>
        <p:spPr>
          <a:xfrm>
            <a:off x="6382440" y="164592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8" name="TextBox 28"/>
          <p:cNvSpPr/>
          <p:nvPr/>
        </p:nvSpPr>
        <p:spPr>
          <a:xfrm>
            <a:off x="6455520" y="1706760"/>
            <a:ext cx="51933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20 checks vs IMD, NASA POWER, PVGIS and Prayas eMARC — all pass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Oval 29"/>
          <p:cNvSpPr/>
          <p:nvPr/>
        </p:nvSpPr>
        <p:spPr>
          <a:xfrm>
            <a:off x="502920" y="235008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0" name="Rounded Rectangle 30"/>
          <p:cNvSpPr/>
          <p:nvPr/>
        </p:nvSpPr>
        <p:spPr>
          <a:xfrm>
            <a:off x="1188720" y="232272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1" name="TextBox 31"/>
          <p:cNvSpPr/>
          <p:nvPr/>
        </p:nvSpPr>
        <p:spPr>
          <a:xfrm>
            <a:off x="1261800" y="2383560"/>
            <a:ext cx="47088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Forecast: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LightGBM P10/P50/P90; days split 60/20/20 train / calibrate / test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Right Arrow 32"/>
          <p:cNvSpPr/>
          <p:nvPr/>
        </p:nvSpPr>
        <p:spPr>
          <a:xfrm>
            <a:off x="6089760" y="248724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3" name="Rounded Rectangle 33"/>
          <p:cNvSpPr/>
          <p:nvPr/>
        </p:nvSpPr>
        <p:spPr>
          <a:xfrm>
            <a:off x="6382440" y="232272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4" name="TextBox 34"/>
          <p:cNvSpPr/>
          <p:nvPr/>
        </p:nvSpPr>
        <p:spPr>
          <a:xfrm>
            <a:off x="6455520" y="2383560"/>
            <a:ext cx="51933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Held-out days: pinball loss, nMAE, coverage — vs same-hour-yesterday and LSTM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Oval 35"/>
          <p:cNvSpPr/>
          <p:nvPr/>
        </p:nvSpPr>
        <p:spPr>
          <a:xfrm>
            <a:off x="502920" y="302652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6" name="Rounded Rectangle 36"/>
          <p:cNvSpPr/>
          <p:nvPr/>
        </p:nvSpPr>
        <p:spPr>
          <a:xfrm>
            <a:off x="1188720" y="299916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7" name="TextBox 37"/>
          <p:cNvSpPr/>
          <p:nvPr/>
        </p:nvSpPr>
        <p:spPr>
          <a:xfrm>
            <a:off x="1261800" y="3060000"/>
            <a:ext cx="47088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Agents: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Newsvendor bids within the forecast's P10–P90; price learning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Right Arrow 38"/>
          <p:cNvSpPr/>
          <p:nvPr/>
        </p:nvSpPr>
        <p:spPr>
          <a:xfrm>
            <a:off x="6089760" y="316368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9" name="Rounded Rectangle 39"/>
          <p:cNvSpPr/>
          <p:nvPr/>
        </p:nvSpPr>
        <p:spPr>
          <a:xfrm>
            <a:off x="6382440" y="299916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0" name="TextBox 40"/>
          <p:cNvSpPr/>
          <p:nvPr/>
        </p:nvSpPr>
        <p:spPr>
          <a:xfrm>
            <a:off x="6455520" y="3166920"/>
            <a:ext cx="51933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Regression tests; per-home money vs an EB-only bill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Oval 41"/>
          <p:cNvSpPr/>
          <p:nvPr/>
        </p:nvSpPr>
        <p:spPr>
          <a:xfrm>
            <a:off x="502920" y="370332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P4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2" name="Rounded Rectangle 42"/>
          <p:cNvSpPr/>
          <p:nvPr/>
        </p:nvSpPr>
        <p:spPr>
          <a:xfrm>
            <a:off x="1188720" y="367596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3" name="TextBox 43"/>
          <p:cNvSpPr/>
          <p:nvPr/>
        </p:nvSpPr>
        <p:spPr>
          <a:xfrm>
            <a:off x="1261800" y="3736800"/>
            <a:ext cx="47088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Market: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Hourly slots cleared in order; EB fallback; 15-min delivery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Right Arrow 44"/>
          <p:cNvSpPr/>
          <p:nvPr/>
        </p:nvSpPr>
        <p:spPr>
          <a:xfrm>
            <a:off x="6089760" y="384048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5" name="Rounded Rectangle 45"/>
          <p:cNvSpPr/>
          <p:nvPr/>
        </p:nvSpPr>
        <p:spPr>
          <a:xfrm>
            <a:off x="6382440" y="367596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6" name="TextBox 46"/>
          <p:cNvSpPr/>
          <p:nvPr/>
        </p:nvSpPr>
        <p:spPr>
          <a:xfrm>
            <a:off x="6455520" y="3736800"/>
            <a:ext cx="51933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Property tests: prices inside ₹3.61–₹10.50; every firm order covered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Oval 47"/>
          <p:cNvSpPr/>
          <p:nvPr/>
        </p:nvSpPr>
        <p:spPr>
          <a:xfrm>
            <a:off x="502920" y="438012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P5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8" name="Rounded Rectangle 48"/>
          <p:cNvSpPr/>
          <p:nvPr/>
        </p:nvSpPr>
        <p:spPr>
          <a:xfrm>
            <a:off x="1188720" y="435240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9" name="TextBox 49"/>
          <p:cNvSpPr/>
          <p:nvPr/>
        </p:nvSpPr>
        <p:spPr>
          <a:xfrm>
            <a:off x="1261800" y="4520160"/>
            <a:ext cx="4708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Safety: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DistFlow check, curtailment, voltage margin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Right Arrow 50"/>
          <p:cNvSpPr/>
          <p:nvPr/>
        </p:nvSpPr>
        <p:spPr>
          <a:xfrm>
            <a:off x="6089760" y="451728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1" name="Rounded Rectangle 51"/>
          <p:cNvSpPr/>
          <p:nvPr/>
        </p:nvSpPr>
        <p:spPr>
          <a:xfrm>
            <a:off x="6382440" y="435240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2" name="TextBox 52"/>
          <p:cNvSpPr/>
          <p:nvPr/>
        </p:nvSpPr>
        <p:spPr>
          <a:xfrm>
            <a:off x="6455520" y="4520160"/>
            <a:ext cx="51933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Full AC Newton–Raphson re-check of every settled slot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Oval 53"/>
          <p:cNvSpPr/>
          <p:nvPr/>
        </p:nvSpPr>
        <p:spPr>
          <a:xfrm>
            <a:off x="502920" y="5056560"/>
            <a:ext cx="548280" cy="54828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P6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4" name="Rounded Rectangle 54"/>
          <p:cNvSpPr/>
          <p:nvPr/>
        </p:nvSpPr>
        <p:spPr>
          <a:xfrm>
            <a:off x="1188720" y="5029200"/>
            <a:ext cx="4845960" cy="60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5" name="TextBox 55"/>
          <p:cNvSpPr/>
          <p:nvPr/>
        </p:nvSpPr>
        <p:spPr>
          <a:xfrm>
            <a:off x="1261800" y="5090040"/>
            <a:ext cx="47088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400" strike="noStrike" u="none">
                <a:solidFill>
                  <a:srgbClr val="1e2a38"/>
                </a:solidFill>
                <a:uFillTx/>
                <a:latin typeface="Calibri"/>
              </a:rPr>
              <a:t>Evaluation:  </a:t>
            </a: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12 seeded 24 h sessions plus a 100-home session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Right Arrow 56"/>
          <p:cNvSpPr/>
          <p:nvPr/>
        </p:nvSpPr>
        <p:spPr>
          <a:xfrm>
            <a:off x="6089760" y="5193720"/>
            <a:ext cx="237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7" name="Rounded Rectangle 57"/>
          <p:cNvSpPr/>
          <p:nvPr/>
        </p:nvSpPr>
        <p:spPr>
          <a:xfrm>
            <a:off x="6382440" y="5029200"/>
            <a:ext cx="5321520" cy="603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8" name="TextBox 58"/>
          <p:cNvSpPr/>
          <p:nvPr/>
        </p:nvSpPr>
        <p:spPr>
          <a:xfrm>
            <a:off x="6455520" y="5090040"/>
            <a:ext cx="51933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O1–O7 vs targets; EB-only replay; optimal-schedule linear programs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Approach / Algorithms / Tools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30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31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32" name="Table 21"/>
          <p:cNvGraphicFramePr/>
          <p:nvPr/>
        </p:nvGraphicFramePr>
        <p:xfrm>
          <a:off x="502920" y="1371600"/>
          <a:ext cx="11201040" cy="4461840"/>
        </p:xfrm>
        <a:graphic>
          <a:graphicData uri="http://schemas.openxmlformats.org/drawingml/2006/table">
            <a:tbl>
              <a:tblPr rtl="0" firstCol="0" lastCol="0" firstRow="1" lastRow="0" bandRow="0" bandCol="0"/>
              <a:tblGrid>
                <a:gridCol w="1737360"/>
                <a:gridCol w="6355080"/>
                <a:gridCol w="3108960"/>
              </a:tblGrid>
              <a:tr h="36576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Component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Approach / Algorithm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Tools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Simulation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Spencer solar position, Haurwitz clear-sky, Erbs diffuse split, Markov rain, AR(1) cloud, CREST-style occupancy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Python, NumPy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Forecasting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Quantile gradient boosting; non-crossing sort; asymmetric conformalized quantile regression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LightGBM; PyTorch (LSTM benchmark)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Agents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Stateful decision graph; newsvendor critical ratio; Zero-Intelligence-Plus price learning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LangGraph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Market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Multi-round negotiation, uniform-price double auction, EB fallback, hash-chained ledger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Python, FastAPI, PostgreSQL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Grid safety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Linearised DistFlow, curtailment, full AC verification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NumPy, pandapower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Evaluation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Optimal-schedule and allocative-efficiency linear programs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SciPy (HiGHS)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Advisor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Tool-using LLM chat: 5 read tools, 1 bounded write; never trades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Groq (gpt-oss-120b)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Application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REST API, JWT login, live dashboard, CI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React, TypeScript, Recharts, Docker, GitHub Actions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 and Results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34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35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Rounded Rectangle 21"/>
          <p:cNvSpPr/>
          <p:nvPr/>
        </p:nvSpPr>
        <p:spPr>
          <a:xfrm>
            <a:off x="8595360" y="749880"/>
            <a:ext cx="3108600" cy="383760"/>
          </a:xfrm>
          <a:prstGeom prst="roundRect">
            <a:avLst>
              <a:gd name="adj" fmla="val 50000"/>
            </a:avLst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</a:rPr>
              <a:t>Results vs targets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aphicFrame>
        <p:nvGraphicFramePr>
          <p:cNvPr id="437" name="Table 22"/>
          <p:cNvGraphicFramePr/>
          <p:nvPr/>
        </p:nvGraphicFramePr>
        <p:xfrm>
          <a:off x="502920" y="1371600"/>
          <a:ext cx="11201040" cy="4206240"/>
        </p:xfrm>
        <a:graphic>
          <a:graphicData uri="http://schemas.openxmlformats.org/drawingml/2006/table">
            <a:tbl>
              <a:tblPr rtl="0" firstCol="0" lastCol="0" firstRow="1" lastRow="0" bandRow="0" bandCol="0"/>
              <a:tblGrid>
                <a:gridCol w="1965960"/>
                <a:gridCol w="3200400"/>
                <a:gridCol w="6035040"/>
              </a:tblGrid>
              <a:tr h="36576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Goal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Target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Result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a5b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O1 Predict use and sun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Mistakes 25% lower than “same as yesterday”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29% lower (home use), 45% lower (solar)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O2 Match buyers and sellers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95% of the possible gain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99.7%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O3 Work alone, fast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Automatic; under 0.2 s for 100 homes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All automatic; 0.07 s for 100 homes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O4 Grid safety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0 unsafe trades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0 unsafe trades in 136 hours checked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O5 Keep solar local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Cut exports by 30% of the possible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32.8% of the possible; self-sufficiency 53.6% to 61.1%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O6 Lower bills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Bills 10% lower; no home worse off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16.4% lower; no home worse off; ₹1,474 saved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4f9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b2a5b"/>
                          </a:solidFill>
                          <a:uFillTx/>
                          <a:latin typeface="Calibri"/>
                        </a:rPr>
                        <a:t>O7 Explain trades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Every trade explained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a38"/>
                          </a:solidFill>
                          <a:uFillTx/>
                          <a:latin typeface="Calibri"/>
                        </a:rPr>
                        <a:t>All 1,024 trades explained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8" name="TextBox 23"/>
          <p:cNvSpPr/>
          <p:nvPr/>
        </p:nvSpPr>
        <p:spPr>
          <a:xfrm>
            <a:off x="502920" y="5577840"/>
            <a:ext cx="11155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200" strike="noStrike" u="none">
                <a:solidFill>
                  <a:srgbClr val="5a6b7b"/>
                </a:solidFill>
                <a:uFillTx/>
                <a:latin typeface="Calibri"/>
              </a:rPr>
              <a:t>* Three targets (O2, O5, O6) were made more precise after the first full measurement. Details are in docs/objectives.md.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Forecaster and Data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40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41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42" name="Chart 21"/>
          <p:cNvGraphicFramePr/>
          <p:nvPr/>
        </p:nvGraphicFramePr>
        <p:xfrm>
          <a:off x="502920" y="1371600"/>
          <a:ext cx="576036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3" name="TextBox 22"/>
          <p:cNvSpPr/>
          <p:nvPr/>
        </p:nvSpPr>
        <p:spPr>
          <a:xfrm>
            <a:off x="502920" y="5212080"/>
            <a:ext cx="5760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i="1" lang="en-US" sz="1500" strike="noStrike" u="none">
                <a:solidFill>
                  <a:srgbClr val="5a6b7b"/>
                </a:solidFill>
                <a:uFillTx/>
                <a:latin typeface="Calibri"/>
              </a:rPr>
              <a:t>Our model, LightGBM, is the most accurate and runs on a normal computer.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TextBox 23"/>
          <p:cNvSpPr/>
          <p:nvPr/>
        </p:nvSpPr>
        <p:spPr>
          <a:xfrm>
            <a:off x="6400800" y="1280160"/>
            <a:ext cx="530316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900" strike="noStrike" u="none">
                <a:solidFill>
                  <a:srgbClr val="0b2a5b"/>
                </a:solidFill>
                <a:uFillTx/>
                <a:latin typeface="Calibri"/>
              </a:rPr>
              <a:t>Simulated data matches real data (20 of 20 checks)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Rounded Rectangle 24"/>
          <p:cNvSpPr/>
          <p:nvPr/>
        </p:nvSpPr>
        <p:spPr>
          <a:xfrm>
            <a:off x="6400800" y="1737360"/>
            <a:ext cx="25599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46" name="TextBox 25"/>
          <p:cNvSpPr/>
          <p:nvPr/>
        </p:nvSpPr>
        <p:spPr>
          <a:xfrm>
            <a:off x="6492240" y="2060640"/>
            <a:ext cx="23770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600" strike="noStrike" u="none">
                <a:solidFill>
                  <a:srgbClr val="0e7c99"/>
                </a:solidFill>
                <a:uFillTx/>
                <a:latin typeface="Calibri"/>
              </a:rPr>
              <a:t>1,493 vs 1,494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TextBox 26"/>
          <p:cNvSpPr/>
          <p:nvPr/>
        </p:nvSpPr>
        <p:spPr>
          <a:xfrm>
            <a:off x="6510600" y="2688480"/>
            <a:ext cx="2340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yearly solar output vs EU solar database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Rounded Rectangle 27"/>
          <p:cNvSpPr/>
          <p:nvPr/>
        </p:nvSpPr>
        <p:spPr>
          <a:xfrm>
            <a:off x="9144000" y="1737360"/>
            <a:ext cx="25599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49" name="TextBox 28"/>
          <p:cNvSpPr/>
          <p:nvPr/>
        </p:nvSpPr>
        <p:spPr>
          <a:xfrm>
            <a:off x="9235440" y="2060640"/>
            <a:ext cx="23770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600" strike="noStrike" u="none">
                <a:solidFill>
                  <a:srgbClr val="0e7c99"/>
                </a:solidFill>
                <a:uFillTx/>
                <a:latin typeface="Calibri"/>
              </a:rPr>
              <a:t>≤ </a:t>
            </a:r>
            <a:r>
              <a:rPr b="1" lang="en-US" sz="2600" strike="noStrike" u="none">
                <a:solidFill>
                  <a:srgbClr val="0e7c99"/>
                </a:solidFill>
                <a:uFillTx/>
                <a:latin typeface="Calibri"/>
              </a:rPr>
              <a:t>0.39 °C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TextBox 29"/>
          <p:cNvSpPr/>
          <p:nvPr/>
        </p:nvSpPr>
        <p:spPr>
          <a:xfrm>
            <a:off x="9253800" y="2688480"/>
            <a:ext cx="2340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monthly temperature vs official averages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Rounded Rectangle 30"/>
          <p:cNvSpPr/>
          <p:nvPr/>
        </p:nvSpPr>
        <p:spPr>
          <a:xfrm>
            <a:off x="6400800" y="3703320"/>
            <a:ext cx="25599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2" name="TextBox 31"/>
          <p:cNvSpPr/>
          <p:nvPr/>
        </p:nvSpPr>
        <p:spPr>
          <a:xfrm>
            <a:off x="6492240" y="4026600"/>
            <a:ext cx="23770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600" strike="noStrike" u="none">
                <a:solidFill>
                  <a:srgbClr val="0e7c99"/>
                </a:solidFill>
                <a:uFillTx/>
                <a:latin typeface="Calibri"/>
              </a:rPr>
              <a:t>656 units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TextBox 32"/>
          <p:cNvSpPr/>
          <p:nvPr/>
        </p:nvSpPr>
        <p:spPr>
          <a:xfrm>
            <a:off x="6510600" y="4654440"/>
            <a:ext cx="2340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monthly use for a family of 4+ (normal: 500 to 750)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Rounded Rectangle 33"/>
          <p:cNvSpPr/>
          <p:nvPr/>
        </p:nvSpPr>
        <p:spPr>
          <a:xfrm>
            <a:off x="9144000" y="3703320"/>
            <a:ext cx="2559960" cy="1828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5" name="TextBox 34"/>
          <p:cNvSpPr/>
          <p:nvPr/>
        </p:nvSpPr>
        <p:spPr>
          <a:xfrm>
            <a:off x="9235440" y="4026600"/>
            <a:ext cx="23770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600" strike="noStrike" u="none">
                <a:solidFill>
                  <a:srgbClr val="0e7c99"/>
                </a:solidFill>
                <a:uFillTx/>
                <a:latin typeface="Calibri"/>
              </a:rPr>
              <a:t>11 pm / 7 am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TextBox 35"/>
          <p:cNvSpPr/>
          <p:nvPr/>
        </p:nvSpPr>
        <p:spPr>
          <a:xfrm>
            <a:off x="9253800" y="4654440"/>
            <a:ext cx="23403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daily peaks in May and January match real meters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What Testing Taught Us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58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59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Rounded Rectangle 21"/>
          <p:cNvSpPr/>
          <p:nvPr/>
        </p:nvSpPr>
        <p:spPr>
          <a:xfrm>
            <a:off x="502920" y="1371600"/>
            <a:ext cx="3611520" cy="22399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1" name="TextBox 22"/>
          <p:cNvSpPr/>
          <p:nvPr/>
        </p:nvSpPr>
        <p:spPr>
          <a:xfrm>
            <a:off x="640080" y="1444680"/>
            <a:ext cx="333720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3400" strike="noStrike" u="none">
                <a:solidFill>
                  <a:srgbClr val="0e7c99"/>
                </a:solidFill>
                <a:uFillTx/>
                <a:latin typeface="Calibri"/>
              </a:rPr>
              <a:t>54.5%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TextBox 23"/>
          <p:cNvSpPr/>
          <p:nvPr/>
        </p:nvSpPr>
        <p:spPr>
          <a:xfrm>
            <a:off x="640080" y="208476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Predicting has a cost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TextBox 24"/>
          <p:cNvSpPr/>
          <p:nvPr/>
        </p:nvSpPr>
        <p:spPr>
          <a:xfrm>
            <a:off x="640080" y="2450520"/>
            <a:ext cx="3337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Agents earn about half the saving a perfect-foresight plan would.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Rounded Rectangle 25"/>
          <p:cNvSpPr/>
          <p:nvPr/>
        </p:nvSpPr>
        <p:spPr>
          <a:xfrm>
            <a:off x="4297680" y="1371600"/>
            <a:ext cx="3611520" cy="22399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5" name="TextBox 26"/>
          <p:cNvSpPr/>
          <p:nvPr/>
        </p:nvSpPr>
        <p:spPr>
          <a:xfrm>
            <a:off x="4434840" y="1444680"/>
            <a:ext cx="333720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3400" strike="noStrike" u="none">
                <a:solidFill>
                  <a:srgbClr val="0e7c99"/>
                </a:solidFill>
                <a:uFillTx/>
                <a:latin typeface="Calibri"/>
              </a:rPr>
              <a:t>22 → 0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TextBox 27"/>
          <p:cNvSpPr/>
          <p:nvPr/>
        </p:nvSpPr>
        <p:spPr>
          <a:xfrm>
            <a:off x="4434840" y="208476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Safety needs a full check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TextBox 28"/>
          <p:cNvSpPr/>
          <p:nvPr/>
        </p:nvSpPr>
        <p:spPr>
          <a:xfrm>
            <a:off x="4434840" y="2450520"/>
            <a:ext cx="3337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 simple check missed 22 voltage problems. A safety margin fixed it.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Rounded Rectangle 29"/>
          <p:cNvSpPr/>
          <p:nvPr/>
        </p:nvSpPr>
        <p:spPr>
          <a:xfrm>
            <a:off x="8092440" y="1371600"/>
            <a:ext cx="3611520" cy="22399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9" name="TextBox 30"/>
          <p:cNvSpPr/>
          <p:nvPr/>
        </p:nvSpPr>
        <p:spPr>
          <a:xfrm>
            <a:off x="8229600" y="1444680"/>
            <a:ext cx="333720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3400" strike="noStrike" u="none">
                <a:solidFill>
                  <a:srgbClr val="0e7c99"/>
                </a:solidFill>
                <a:uFillTx/>
                <a:latin typeface="Calibri"/>
              </a:rPr>
              <a:t>0.07 s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TextBox 31"/>
          <p:cNvSpPr/>
          <p:nvPr/>
        </p:nvSpPr>
        <p:spPr>
          <a:xfrm>
            <a:off x="8229600" y="208476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Faster by batching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TextBox 32"/>
          <p:cNvSpPr/>
          <p:nvPr/>
        </p:nvSpPr>
        <p:spPr>
          <a:xfrm>
            <a:off x="8229600" y="2450520"/>
            <a:ext cx="3337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Handling all homes together cut each hour from 3–4 seconds to 0.07.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Rounded Rectangle 33"/>
          <p:cNvSpPr/>
          <p:nvPr/>
        </p:nvSpPr>
        <p:spPr>
          <a:xfrm>
            <a:off x="502920" y="3794760"/>
            <a:ext cx="5531760" cy="18741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73" name="TextBox 34"/>
          <p:cNvSpPr/>
          <p:nvPr/>
        </p:nvSpPr>
        <p:spPr>
          <a:xfrm>
            <a:off x="640080" y="3867840"/>
            <a:ext cx="525744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3400" strike="noStrike" u="none">
                <a:solidFill>
                  <a:srgbClr val="0e7c99"/>
                </a:solidFill>
                <a:uFillTx/>
                <a:latin typeface="Calibri"/>
              </a:rPr>
              <a:t>10 of 120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TextBox 35"/>
          <p:cNvSpPr/>
          <p:nvPr/>
        </p:nvSpPr>
        <p:spPr>
          <a:xfrm>
            <a:off x="640080" y="450792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Cloudy days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TextBox 36"/>
          <p:cNvSpPr/>
          <p:nvPr/>
        </p:nvSpPr>
        <p:spPr>
          <a:xfrm>
            <a:off x="640080" y="4873680"/>
            <a:ext cx="5257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On 10 of 120 home-days a home lost a little (worst ₹7.56). Over the season, every home gains.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Rounded Rectangle 37"/>
          <p:cNvSpPr/>
          <p:nvPr/>
        </p:nvSpPr>
        <p:spPr>
          <a:xfrm>
            <a:off x="6172200" y="3794760"/>
            <a:ext cx="5531760" cy="187416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77" name="TextBox 38"/>
          <p:cNvSpPr/>
          <p:nvPr/>
        </p:nvSpPr>
        <p:spPr>
          <a:xfrm>
            <a:off x="6309360" y="3867840"/>
            <a:ext cx="525744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3400" strike="noStrike" u="none">
                <a:solidFill>
                  <a:srgbClr val="0e7c99"/>
                </a:solidFill>
                <a:uFillTx/>
                <a:latin typeface="Calibri"/>
              </a:rPr>
              <a:t>50.9%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TextBox 39"/>
          <p:cNvSpPr/>
          <p:nvPr/>
        </p:nvSpPr>
        <p:spPr>
          <a:xfrm>
            <a:off x="6309360" y="450792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Safe, not yet best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TextBox 40"/>
          <p:cNvSpPr/>
          <p:nvPr/>
        </p:nvSpPr>
        <p:spPr>
          <a:xfrm>
            <a:off x="6309360" y="4873680"/>
            <a:ext cx="5257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At 100 homes the safety layer keeps about half the possible benefit.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Conclusion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81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82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Rounded Rectangle 21"/>
          <p:cNvSpPr/>
          <p:nvPr/>
        </p:nvSpPr>
        <p:spPr>
          <a:xfrm>
            <a:off x="50292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484" name="Picture 22" descr="image6.jpeg"/>
          <p:cNvPicPr/>
          <p:nvPr/>
        </p:nvPicPr>
        <p:blipFill>
          <a:blip r:embed="rId1"/>
          <a:srcRect l="0" t="32083" r="0" b="32083"/>
          <a:stretch/>
        </p:blipFill>
        <p:spPr>
          <a:xfrm>
            <a:off x="59436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Box 23"/>
          <p:cNvSpPr/>
          <p:nvPr/>
        </p:nvSpPr>
        <p:spPr>
          <a:xfrm>
            <a:off x="64008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What we built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TextBox 24"/>
          <p:cNvSpPr/>
          <p:nvPr/>
        </p:nvSpPr>
        <p:spPr>
          <a:xfrm>
            <a:off x="640080" y="3154680"/>
            <a:ext cx="3337200" cy="11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Each home gets a software agent that predicts, trades and explains.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Full system with a web app and 308 automated tests.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Rounded Rectangle 25"/>
          <p:cNvSpPr/>
          <p:nvPr/>
        </p:nvSpPr>
        <p:spPr>
          <a:xfrm>
            <a:off x="429768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488" name="Picture 26" descr="image15.png"/>
          <p:cNvPicPr/>
          <p:nvPr/>
        </p:nvPicPr>
        <p:blipFill>
          <a:blip r:embed="rId2"/>
          <a:srcRect l="0" t="24084" r="0" b="24084"/>
          <a:stretch/>
        </p:blipFill>
        <p:spPr>
          <a:xfrm>
            <a:off x="438912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Box 27"/>
          <p:cNvSpPr/>
          <p:nvPr/>
        </p:nvSpPr>
        <p:spPr>
          <a:xfrm>
            <a:off x="443484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Results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TextBox 28"/>
          <p:cNvSpPr/>
          <p:nvPr/>
        </p:nvSpPr>
        <p:spPr>
          <a:xfrm>
            <a:off x="4434840" y="3154680"/>
            <a:ext cx="3337200" cy="17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Predictions 29% to 45% more accurate.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Bills 16.4% lower; no home worse off.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0 unsafe trades; every trade explained.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Rounded Rectangle 29"/>
          <p:cNvSpPr/>
          <p:nvPr/>
        </p:nvSpPr>
        <p:spPr>
          <a:xfrm>
            <a:off x="8092440" y="1371600"/>
            <a:ext cx="3611520" cy="429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492" name="Picture 30" descr="image8.jpeg"/>
          <p:cNvPicPr/>
          <p:nvPr/>
        </p:nvPicPr>
        <p:blipFill>
          <a:blip r:embed="rId3"/>
          <a:srcRect l="0" t="30429" r="0" b="30429"/>
          <a:stretch/>
        </p:blipFill>
        <p:spPr>
          <a:xfrm>
            <a:off x="8183880" y="1463040"/>
            <a:ext cx="342864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Box 31"/>
          <p:cNvSpPr/>
          <p:nvPr/>
        </p:nvSpPr>
        <p:spPr>
          <a:xfrm>
            <a:off x="8229600" y="27432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2a5b"/>
                </a:solidFill>
                <a:uFillTx/>
                <a:latin typeface="Calibri"/>
              </a:rPr>
              <a:t>Key idea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TextBox 32"/>
          <p:cNvSpPr/>
          <p:nvPr/>
        </p:nvSpPr>
        <p:spPr>
          <a:xfrm>
            <a:off x="8229600" y="3154680"/>
            <a:ext cx="3337200" cy="17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Trading helps most when homes differ, such as no panels or a big battery.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Identical homes all have extra solar at noon, so no one is left to buy it.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Next: test on real smart meters.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Limitations and Future Work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96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497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TextBox 21"/>
          <p:cNvSpPr/>
          <p:nvPr/>
        </p:nvSpPr>
        <p:spPr>
          <a:xfrm>
            <a:off x="502920" y="128016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e7c99"/>
                </a:solidFill>
                <a:uFillTx/>
                <a:latin typeface="Calibri"/>
              </a:rPr>
              <a:t>Limitations today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Rounded Rectangle 22"/>
          <p:cNvSpPr/>
          <p:nvPr/>
        </p:nvSpPr>
        <p:spPr>
          <a:xfrm>
            <a:off x="502920" y="1691640"/>
            <a:ext cx="2697120" cy="86832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0" name="TextBox 23"/>
          <p:cNvSpPr/>
          <p:nvPr/>
        </p:nvSpPr>
        <p:spPr>
          <a:xfrm>
            <a:off x="576000" y="1855080"/>
            <a:ext cx="2559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Synthetic data (calibrated to IMD, PVGIS, Prayas)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Rounded Rectangle 24"/>
          <p:cNvSpPr/>
          <p:nvPr/>
        </p:nvSpPr>
        <p:spPr>
          <a:xfrm>
            <a:off x="3337560" y="1691640"/>
            <a:ext cx="2697120" cy="86832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2" name="TextBox 25"/>
          <p:cNvSpPr/>
          <p:nvPr/>
        </p:nvSpPr>
        <p:spPr>
          <a:xfrm>
            <a:off x="3410640" y="1855080"/>
            <a:ext cx="2559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Grid model counts only P2P flows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Rounded Rectangle 26"/>
          <p:cNvSpPr/>
          <p:nvPr/>
        </p:nvSpPr>
        <p:spPr>
          <a:xfrm>
            <a:off x="6172200" y="1691640"/>
            <a:ext cx="2697120" cy="86832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4" name="TextBox 27"/>
          <p:cNvSpPr/>
          <p:nvPr/>
        </p:nvSpPr>
        <p:spPr>
          <a:xfrm>
            <a:off x="6245280" y="1976760"/>
            <a:ext cx="25599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A single random seed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Rounded Rectangle 28"/>
          <p:cNvSpPr/>
          <p:nvPr/>
        </p:nvSpPr>
        <p:spPr>
          <a:xfrm>
            <a:off x="9006840" y="1691640"/>
            <a:ext cx="2697120" cy="868320"/>
          </a:xfrm>
          <a:prstGeom prst="roundRect">
            <a:avLst>
              <a:gd name="adj" fmla="val 8000"/>
            </a:avLst>
          </a:prstGeom>
          <a:solidFill>
            <a:srgbClr val="fd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6" name="TextBox 29"/>
          <p:cNvSpPr/>
          <p:nvPr/>
        </p:nvSpPr>
        <p:spPr>
          <a:xfrm>
            <a:off x="9079920" y="1855080"/>
            <a:ext cx="2559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The 6 am forecast cannot see clouds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TextBox 30"/>
          <p:cNvSpPr/>
          <p:nvPr/>
        </p:nvSpPr>
        <p:spPr>
          <a:xfrm>
            <a:off x="502920" y="278892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e7c99"/>
                </a:solidFill>
                <a:uFillTx/>
                <a:latin typeface="Calibri"/>
              </a:rPr>
              <a:t>Future work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Rounded Rectangle 29"/>
          <p:cNvSpPr/>
          <p:nvPr/>
        </p:nvSpPr>
        <p:spPr>
          <a:xfrm>
            <a:off x="914400" y="3310200"/>
            <a:ext cx="10423800" cy="63720"/>
          </a:xfrm>
          <a:prstGeom prst="roundRect">
            <a:avLst>
              <a:gd name="adj" fmla="val 50000"/>
            </a:avLst>
          </a:prstGeom>
          <a:solidFill>
            <a:srgbClr val="9a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9" name="Oval 30"/>
          <p:cNvSpPr/>
          <p:nvPr/>
        </p:nvSpPr>
        <p:spPr>
          <a:xfrm>
            <a:off x="1417320" y="3108960"/>
            <a:ext cx="456840" cy="456840"/>
          </a:xfrm>
          <a:prstGeom prst="ellipse">
            <a:avLst/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0" name="Rounded Rectangle 31"/>
          <p:cNvSpPr/>
          <p:nvPr/>
        </p:nvSpPr>
        <p:spPr>
          <a:xfrm>
            <a:off x="50292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11" name="TextBox 32"/>
          <p:cNvSpPr/>
          <p:nvPr/>
        </p:nvSpPr>
        <p:spPr>
          <a:xfrm>
            <a:off x="57600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NEAR TERM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TextBox 33"/>
          <p:cNvSpPr/>
          <p:nvPr/>
        </p:nvSpPr>
        <p:spPr>
          <a:xfrm>
            <a:off x="57600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" rIns="2520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Cloud-aware forecasts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TextBox 34"/>
          <p:cNvSpPr/>
          <p:nvPr/>
        </p:nvSpPr>
        <p:spPr>
          <a:xfrm>
            <a:off x="576000" y="4526280"/>
            <a:ext cx="19566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Day-ahead cloud-forecast feature (IMD / weather API).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Oval 35"/>
          <p:cNvSpPr/>
          <p:nvPr/>
        </p:nvSpPr>
        <p:spPr>
          <a:xfrm>
            <a:off x="3694320" y="3108960"/>
            <a:ext cx="456840" cy="456840"/>
          </a:xfrm>
          <a:prstGeom prst="ellipse">
            <a:avLst/>
          </a:prstGeom>
          <a:solidFill>
            <a:srgbClr val="3d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5" name="Rounded Rectangle 36"/>
          <p:cNvSpPr/>
          <p:nvPr/>
        </p:nvSpPr>
        <p:spPr>
          <a:xfrm>
            <a:off x="277992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16" name="TextBox 37"/>
          <p:cNvSpPr/>
          <p:nvPr/>
        </p:nvSpPr>
        <p:spPr>
          <a:xfrm>
            <a:off x="285300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NEAR TERM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TextBox 38"/>
          <p:cNvSpPr/>
          <p:nvPr/>
        </p:nvSpPr>
        <p:spPr>
          <a:xfrm>
            <a:off x="285300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Intraday re-planning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TextBox 39"/>
          <p:cNvSpPr/>
          <p:nvPr/>
        </p:nvSpPr>
        <p:spPr>
          <a:xfrm>
            <a:off x="2853000" y="4526280"/>
            <a:ext cx="19566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A home can revise its plan after the sun changes.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Oval 40"/>
          <p:cNvSpPr/>
          <p:nvPr/>
        </p:nvSpPr>
        <p:spPr>
          <a:xfrm>
            <a:off x="5970960" y="3108960"/>
            <a:ext cx="456840" cy="45684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0" name="Rounded Rectangle 41"/>
          <p:cNvSpPr/>
          <p:nvPr/>
        </p:nvSpPr>
        <p:spPr>
          <a:xfrm>
            <a:off x="505656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1" name="TextBox 42"/>
          <p:cNvSpPr/>
          <p:nvPr/>
        </p:nvSpPr>
        <p:spPr>
          <a:xfrm>
            <a:off x="5129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NEXT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TextBox 43"/>
          <p:cNvSpPr/>
          <p:nvPr/>
        </p:nvSpPr>
        <p:spPr>
          <a:xfrm>
            <a:off x="5129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Several seeds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TextBox 44"/>
          <p:cNvSpPr/>
          <p:nvPr/>
        </p:nvSpPr>
        <p:spPr>
          <a:xfrm>
            <a:off x="5129640" y="4526280"/>
            <a:ext cx="19566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Evaluation over several seeds.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Oval 45"/>
          <p:cNvSpPr/>
          <p:nvPr/>
        </p:nvSpPr>
        <p:spPr>
          <a:xfrm>
            <a:off x="8247960" y="3108960"/>
            <a:ext cx="456840" cy="45684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5" name="Rounded Rectangle 46"/>
          <p:cNvSpPr/>
          <p:nvPr/>
        </p:nvSpPr>
        <p:spPr>
          <a:xfrm>
            <a:off x="733356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6" name="TextBox 47"/>
          <p:cNvSpPr/>
          <p:nvPr/>
        </p:nvSpPr>
        <p:spPr>
          <a:xfrm>
            <a:off x="7406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NEXT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TextBox 48"/>
          <p:cNvSpPr/>
          <p:nvPr/>
        </p:nvSpPr>
        <p:spPr>
          <a:xfrm>
            <a:off x="7406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Market and grid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TextBox 49"/>
          <p:cNvSpPr/>
          <p:nvPr/>
        </p:nvSpPr>
        <p:spPr>
          <a:xfrm>
            <a:off x="7406640" y="4526280"/>
            <a:ext cx="1956600" cy="13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Optimal curtailment to recover more than the 50.9% of welfare now kept; richer feeder model with non-P2P flows.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Oval 50"/>
          <p:cNvSpPr/>
          <p:nvPr/>
        </p:nvSpPr>
        <p:spPr>
          <a:xfrm>
            <a:off x="10524600" y="3108960"/>
            <a:ext cx="456840" cy="456840"/>
          </a:xfrm>
          <a:prstGeom prst="ellipse">
            <a:avLst/>
          </a:prstGeom>
          <a:solidFill>
            <a:srgbClr val="9a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Rounded Rectangle 51"/>
          <p:cNvSpPr/>
          <p:nvPr/>
        </p:nvSpPr>
        <p:spPr>
          <a:xfrm>
            <a:off x="9610200" y="3703320"/>
            <a:ext cx="2102760" cy="1965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1" name="TextBox 52"/>
          <p:cNvSpPr/>
          <p:nvPr/>
        </p:nvSpPr>
        <p:spPr>
          <a:xfrm>
            <a:off x="9683640" y="373068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e7c99"/>
                </a:solidFill>
                <a:uFillTx/>
                <a:latin typeface="Calibri"/>
              </a:rPr>
              <a:t>LATER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TextBox 53"/>
          <p:cNvSpPr/>
          <p:nvPr/>
        </p:nvSpPr>
        <p:spPr>
          <a:xfrm>
            <a:off x="9683640" y="3986640"/>
            <a:ext cx="19566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0b2a5b"/>
                </a:solidFill>
                <a:uFillTx/>
                <a:latin typeface="Calibri"/>
              </a:rPr>
              <a:t>Real deployment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TextBox 54"/>
          <p:cNvSpPr/>
          <p:nvPr/>
        </p:nvSpPr>
        <p:spPr>
          <a:xfrm>
            <a:off x="9683640" y="4526280"/>
            <a:ext cx="1956600" cy="9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400" strike="noStrike" u="none">
                <a:solidFill>
                  <a:srgbClr val="1e2a38"/>
                </a:solidFill>
                <a:uFillTx/>
                <a:latin typeface="Calibri"/>
              </a:rPr>
              <a:t>Pilot on real smart meters; TNERC settlement rules for community trading.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Acknowledgement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35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536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 ·  Agentic P2P Energy Trading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37" name="Picture 21" descr="image12.jpeg"/>
          <p:cNvPicPr/>
          <p:nvPr/>
        </p:nvPicPr>
        <p:blipFill>
          <a:blip r:embed="rId1"/>
          <a:srcRect l="21891" t="0" r="21891" b="0"/>
          <a:stretch/>
        </p:blipFill>
        <p:spPr>
          <a:xfrm>
            <a:off x="502920" y="1417320"/>
            <a:ext cx="420588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Rounded Rectangle 22"/>
          <p:cNvSpPr/>
          <p:nvPr/>
        </p:nvSpPr>
        <p:spPr>
          <a:xfrm>
            <a:off x="4937760" y="1417320"/>
            <a:ext cx="6766200" cy="822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9" name="Oval 23"/>
          <p:cNvSpPr/>
          <p:nvPr/>
        </p:nvSpPr>
        <p:spPr>
          <a:xfrm>
            <a:off x="5074920" y="1554480"/>
            <a:ext cx="548280" cy="54828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0" name="TextBox 24"/>
          <p:cNvSpPr/>
          <p:nvPr/>
        </p:nvSpPr>
        <p:spPr>
          <a:xfrm>
            <a:off x="5806440" y="1557720"/>
            <a:ext cx="58060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1e2a38"/>
                </a:solidFill>
                <a:uFillTx/>
                <a:latin typeface="Calibri"/>
              </a:rPr>
              <a:t>My project guide, [Guide's Name]  </a:t>
            </a: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for direction and feedback throughout the project.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Rounded Rectangle 25"/>
          <p:cNvSpPr/>
          <p:nvPr/>
        </p:nvSpPr>
        <p:spPr>
          <a:xfrm>
            <a:off x="4937760" y="2331720"/>
            <a:ext cx="6766200" cy="822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42" name="Oval 26"/>
          <p:cNvSpPr/>
          <p:nvPr/>
        </p:nvSpPr>
        <p:spPr>
          <a:xfrm>
            <a:off x="5074920" y="2468880"/>
            <a:ext cx="548280" cy="54828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2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3" name="TextBox 27"/>
          <p:cNvSpPr/>
          <p:nvPr/>
        </p:nvSpPr>
        <p:spPr>
          <a:xfrm>
            <a:off x="5806440" y="2472120"/>
            <a:ext cx="58060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1e2a38"/>
                </a:solidFill>
                <a:uFillTx/>
                <a:latin typeface="Calibri"/>
              </a:rPr>
              <a:t>VIT Chennai and LTIMindtree  </a:t>
            </a: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for the Advanced Industry Integrated Program.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Rounded Rectangle 28"/>
          <p:cNvSpPr/>
          <p:nvPr/>
        </p:nvSpPr>
        <p:spPr>
          <a:xfrm>
            <a:off x="4937760" y="3246120"/>
            <a:ext cx="6766200" cy="822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45" name="Oval 29"/>
          <p:cNvSpPr/>
          <p:nvPr/>
        </p:nvSpPr>
        <p:spPr>
          <a:xfrm>
            <a:off x="5074920" y="3383280"/>
            <a:ext cx="548280" cy="54828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3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6" name="TextBox 30"/>
          <p:cNvSpPr/>
          <p:nvPr/>
        </p:nvSpPr>
        <p:spPr>
          <a:xfrm>
            <a:off x="5806440" y="3386520"/>
            <a:ext cx="58060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1e2a38"/>
                </a:solidFill>
                <a:uFillTx/>
                <a:latin typeface="Calibri"/>
              </a:rPr>
              <a:t>The review panel  </a:t>
            </a: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whose comments and suggestions shaped both designs.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Rounded Rectangle 31"/>
          <p:cNvSpPr/>
          <p:nvPr/>
        </p:nvSpPr>
        <p:spPr>
          <a:xfrm>
            <a:off x="4937760" y="4160520"/>
            <a:ext cx="6766200" cy="822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48" name="Oval 32"/>
          <p:cNvSpPr/>
          <p:nvPr/>
        </p:nvSpPr>
        <p:spPr>
          <a:xfrm>
            <a:off x="5074920" y="4297680"/>
            <a:ext cx="548280" cy="548280"/>
          </a:xfrm>
          <a:prstGeom prst="ellipse">
            <a:avLst/>
          </a:prstGeom>
          <a:solidFill>
            <a:srgbClr val="0f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27360" bIns="27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4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9" name="TextBox 33"/>
          <p:cNvSpPr/>
          <p:nvPr/>
        </p:nvSpPr>
        <p:spPr>
          <a:xfrm>
            <a:off x="5806440" y="4179240"/>
            <a:ext cx="58060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1" lang="en-US" sz="1600" strike="noStrike" u="none">
                <a:solidFill>
                  <a:srgbClr val="1e2a38"/>
                </a:solidFill>
                <a:uFillTx/>
                <a:latin typeface="Calibri"/>
              </a:rPr>
              <a:t>Public data providers  </a:t>
            </a:r>
            <a:r>
              <a:rPr b="0" lang="en-US" sz="1600" strike="noStrike" u="none">
                <a:solidFill>
                  <a:srgbClr val="1e2a38"/>
                </a:solidFill>
                <a:uFillTx/>
                <a:latin typeface="Calibri"/>
              </a:rPr>
              <a:t>IMD, NASA POWER, PVGIS (EU JRC), Prayas (Energy Group) and the Central Public Procurement Portal.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Rounded Rectangle 34"/>
          <p:cNvSpPr/>
          <p:nvPr/>
        </p:nvSpPr>
        <p:spPr>
          <a:xfrm>
            <a:off x="4937760" y="5120640"/>
            <a:ext cx="6766200" cy="54828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1" name="TextBox 35"/>
          <p:cNvSpPr/>
          <p:nvPr/>
        </p:nvSpPr>
        <p:spPr>
          <a:xfrm>
            <a:off x="4937760" y="5215320"/>
            <a:ext cx="67662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</a:rPr>
              <a:t>Thank you — questions welcome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References — Project 1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53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554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Tender Intelligence &amp; Bid Decision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TextBox 21"/>
          <p:cNvSpPr/>
          <p:nvPr/>
        </p:nvSpPr>
        <p:spPr>
          <a:xfrm>
            <a:off x="502920" y="1371600"/>
            <a:ext cx="5463360" cy="19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1.  Ahmad &amp; Minkarah (1988). J. Manage. Eng., 4(3), 229–243.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2.  Wanous, Boussabaine &amp; Lewis (2000). Constr. Manage. Econ., 18(4), 457–466.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3.  Chou, Pham &amp; Wang (2013). Autom. Constr., 35, 517–527.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4.  Faraji, Rashidi, Eftekhari, Perera &amp; Mani (2022). J. Open Innov., 8(1), 33.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5.  Kim, Lee, Lee &amp; Lee (2020). IEEE CDMA, 123–128.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TextBox 22"/>
          <p:cNvSpPr/>
          <p:nvPr/>
        </p:nvSpPr>
        <p:spPr>
          <a:xfrm>
            <a:off x="6240600" y="1371600"/>
            <a:ext cx="5463360" cy="32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6.  Mohemad, Hamdan, Ali Othman &amp; Mohamad Noor (2010). IJCSI, 7(2); arXiv:1004.3260.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7.  Lewis, P., et al. (2020). Retrieval-augmented generation for knowledge-intensive NLP tasks. NeurIPS 33.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8.  Broder, A. Z. (1997). On the resemblance and containment of documents. Compression and Complexity of Sequences, 21–29.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9.  Cormack, G. V., Clarke, C. L. A., &amp; Büttcher, S. (2009). Reciprocal rank fusion outperforms Condorcet and individual rank learning methods. SIGIR 2009.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1e2a38"/>
                </a:solidFill>
                <a:uFillTx/>
                <a:latin typeface="Calibri"/>
              </a:rPr>
              <a:t>10.  Malkov, Y. A., &amp; Yashunin, D. A. (2018). Efficient and robust approximate nearest neighbor search using HNSW graphs. IEEE TPAMI, 42(4), 824–836.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Box 2"/>
          <p:cNvSpPr/>
          <p:nvPr/>
        </p:nvSpPr>
        <p:spPr>
          <a:xfrm>
            <a:off x="255960" y="502560"/>
            <a:ext cx="1062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References — Project 2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58" name="Straight Connector 4"/>
          <p:cNvCxnSpPr/>
          <p:nvPr/>
        </p:nvCxnSpPr>
        <p:spPr>
          <a:xfrm>
            <a:off x="221040" y="1191600"/>
            <a:ext cx="7306560" cy="720"/>
          </a:xfrm>
          <a:prstGeom prst="straightConnector1">
            <a:avLst/>
          </a:prstGeom>
          <a:ln w="28575">
            <a:solidFill>
              <a:srgbClr val="70ad47"/>
            </a:solidFill>
            <a:round/>
          </a:ln>
        </p:spPr>
      </p:cxnSp>
      <p:sp>
        <p:nvSpPr>
          <p:cNvPr id="559" name="TextBox 3"/>
          <p:cNvSpPr/>
          <p:nvPr/>
        </p:nvSpPr>
        <p:spPr>
          <a:xfrm>
            <a:off x="6093720" y="56880"/>
            <a:ext cx="609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Agentic AI-Based P2P Energy Trading in Microgrids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TextBox 21"/>
          <p:cNvSpPr/>
          <p:nvPr/>
        </p:nvSpPr>
        <p:spPr>
          <a:xfrm>
            <a:off x="502920" y="1371600"/>
            <a:ext cx="5463360" cy="36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1.  Tushar, W., Saha, T. K., Yuen, C., Smith, D., &amp; Poor, H. V. (2020). Peer-to-peer trading in electricity networks: An overview. IEEE Trans. Smart Grid, 11(4), 3185–3200.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2.  Smith, V. L. (1962). An experimental study of competitive market behavior. J. Political Economy, 70(2), 111–137.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3.  Gode, D. K., &amp; Sunder, S. (1993). Allocative efficiency of markets with zero-intelligence traders. J. Political Economy, 101(1), 119–137.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4.  Cliff, D. (1997). Minimal-intelligence agents for bargaining behaviors in market-based environments. HP Labs Tech. Rep. HPL-97-91.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5.  Bitar, E. Y., et al. (2012). Bringing wind energy to market. IEEE Trans. Power Systems, 27(3), 1225–1235.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6.  Ke, G., et al. (2017). LightGBM: A highly efficient gradient boosting decision tree. NeurIPS 30.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7.  Romano, Y., Patterson, E., &amp; Candès, E. (2019). Conformalized quantile regression. NeurIPS 32.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8.  Chernozhukov, V., Fernández-Val, I., &amp; Galichon, A. (2010). Quantile and probability curves without crossing. Econometrica, 78(3), 1093–1125.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TextBox 22"/>
          <p:cNvSpPr/>
          <p:nvPr/>
        </p:nvSpPr>
        <p:spPr>
          <a:xfrm>
            <a:off x="6240600" y="1371600"/>
            <a:ext cx="5463360" cy="35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9.  Hochreiter, S., &amp; Schmidhuber, J. (1997). Long short-term memory. Neural Computation, 9(8), 1735–1780.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10.  Baran, M. E., &amp; Wu, F. F. (1989). Network reconfiguration in distribution systems for loss reduction and load balancing. IEEE Trans. Power Delivery, 4(2), 1401–1407.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11.  Thurner, L., et al. (2018). pandapower: An open-source Python tool for power system modeling and analysis. IEEE Trans. Power Systems, 33(6), 6510–6521.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12.  Richardson, I., Thomson, M., Infield, D., &amp; Clifford, C. (2010). Domestic electricity use: A high-resolution energy demand model. Energy and Buildings, 42(10), 1878–1887.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13.  Erbs, D. G., Klein, S. A., &amp; Duffie, J. A. (1982). Estimation of the diffuse radiation fraction. Solar Energy, 28(4), 293–302.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14.  Yao, S., et al. (2023). ReAct: Synergizing reasoning and acting in language models. ICLR 2023.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1200" strike="noStrike" u="none">
                <a:solidFill>
                  <a:srgbClr val="1e2a38"/>
                </a:solidFill>
                <a:uFillTx/>
                <a:latin typeface="Calibri"/>
              </a:rPr>
              <a:t>15.  Huangfu, Q., &amp; Hall, J. A. J. (2018). Parallelizing the dual revised simplex method. Math. Programming Computation, 10(1), 119–142.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TextBox 23"/>
          <p:cNvSpPr/>
          <p:nvPr/>
        </p:nvSpPr>
        <p:spPr>
          <a:xfrm>
            <a:off x="502920" y="5440680"/>
            <a:ext cx="111553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</a:rPr>
              <a:t>Data and tariffs: IMD climatological normals 1991–2020 (Chennai, Nungambakkam); NASA POWER; PVGIS 5.3, EU JRC; Prayas (Energy Group) eMARC; TNERC Order No. 8 of 2021 and the 2025 retail tariff order.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Application>LibreOfficeDev/24.8.7.2.0$Android_AARCH64 LibreOffice_project/</Application>
  <AppVersion>15.0000</AppVersion>
  <Words>205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2024-05-13T10:33:11Z</dcterms:created>
  <dc:creator>HARI PRASATH</dc:creator>
  <dc:description/>
  <dc:language>en-US</dc:language>
  <cp:lastModifiedBy>HARI PRASATH</cp:lastModifiedBy>
  <dcterms:modified xsi:type="dcterms:W3CDTF">2025-10-06T09:41:15Z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1_Office Theme:8</vt:lpwstr>
  </property>
  <property fmtid="{D5CDD505-2E9C-101B-9397-08002B2CF9AE}" pid="3" name="ClassificationContentMarkingFooterText">
    <vt:lpwstr>Sensitivity: LNT Construction Internal Use</vt:lpwstr>
  </property>
  <property fmtid="{D5CDD505-2E9C-101B-9397-08002B2CF9AE}" pid="4" name="MSIP_Label_ac52bb50-aef2-4dc8-bb7f-e0da22648362_ActionId">
    <vt:lpwstr>5a5317b9-6049-4f38-9ea6-5786aca62bc4</vt:lpwstr>
  </property>
  <property fmtid="{D5CDD505-2E9C-101B-9397-08002B2CF9AE}" pid="5" name="MSIP_Label_ac52bb50-aef2-4dc8-bb7f-e0da22648362_ContentBits">
    <vt:lpwstr>2</vt:lpwstr>
  </property>
  <property fmtid="{D5CDD505-2E9C-101B-9397-08002B2CF9AE}" pid="6" name="MSIP_Label_ac52bb50-aef2-4dc8-bb7f-e0da22648362_Enabled">
    <vt:lpwstr>true</vt:lpwstr>
  </property>
  <property fmtid="{D5CDD505-2E9C-101B-9397-08002B2CF9AE}" pid="7" name="MSIP_Label_ac52bb50-aef2-4dc8-bb7f-e0da22648362_Method">
    <vt:lpwstr>Standard</vt:lpwstr>
  </property>
  <property fmtid="{D5CDD505-2E9C-101B-9397-08002B2CF9AE}" pid="8" name="MSIP_Label_ac52bb50-aef2-4dc8-bb7f-e0da22648362_Name">
    <vt:lpwstr>ac52bb50-aef2-4dc8-bb7f-e0da22648362</vt:lpwstr>
  </property>
  <property fmtid="{D5CDD505-2E9C-101B-9397-08002B2CF9AE}" pid="9" name="MSIP_Label_ac52bb50-aef2-4dc8-bb7f-e0da22648362_SetDate">
    <vt:lpwstr>2025-08-25T08:11:33Z</vt:lpwstr>
  </property>
  <property fmtid="{D5CDD505-2E9C-101B-9397-08002B2CF9AE}" pid="10" name="MSIP_Label_ac52bb50-aef2-4dc8-bb7f-e0da22648362_SiteId">
    <vt:lpwstr>264b9899-fe1b-430b-9509-2154878d5774</vt:lpwstr>
  </property>
  <property fmtid="{D5CDD505-2E9C-101B-9397-08002B2CF9AE}" pid="11" name="MSIP_Label_ac52bb50-aef2-4dc8-bb7f-e0da22648362_Tag">
    <vt:lpwstr>10, 3, 0, 1</vt:lpwstr>
  </property>
  <property fmtid="{D5CDD505-2E9C-101B-9397-08002B2CF9AE}" pid="12" name="PresentationFormat">
    <vt:lpwstr>Widescreen</vt:lpwstr>
  </property>
  <property fmtid="{D5CDD505-2E9C-101B-9397-08002B2CF9AE}" pid="13" name="Slides">
    <vt:i4>11</vt:i4>
  </property>
</Properties>
</file>